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making time for this. I want to walk you through Kids Day Out: who it is for, how it runs, what it costs, and what we need from the church.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a licensed clinical social worker and LCSW supervisor, and I worked three years in Cross Church's Kids Day Out before we moved to Alma. I serve in the three year old room on Wednesday nights and lead Story Time. KDO is one day a week to start: Thursdays, nine to two, for kids six months to Pre-K.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Mother's Day Out or Kids Day Out in Alma today. Families drive to Van Buren, Fort Smith, or Greenwood, and those programs require two days and cost two hundred dollars or more a month. For some kids, KDO will be their first time hearing about Jesus.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schedule every week, so kids know what to expect. Each month the kids learn one memory verse, and each Thursday has a Bible story that builds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room has two adults at all times, and no adult is ever alone with a child. Our ratios are better than the state requires for licensed centers.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we are open five hours a week, KDO does not need a state license. First Baptist Greenwood runs this same model unlicensed. We will still follow the licensed standards, have called the fire marshal and will keep his approval in writing, and confirm with the state before we advertise.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teacher is background checked, trained, and CPR certified before the first day. Teachers make thirteen dollars an hour and we pray together before the kids arrive. A room only opens when two trained teachers are ready, so we never enroll more kids than we can staff. As director I float between rooms. My sister Melissa will lead training. She spent 8 years as associate preschool director and women's minister at Cross Church, was the first Caring Well coordinator in the Southern Baptist Convention, and served as Caring Well coordinator and women's minister at Immanuel. That training can be open to every preschool volunteer at FBA.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Tuition is the daily rate times 18 Thursdays. Toddlers and preschoolers are twenty dollars a Thursday and babies are twenty five, since babies need more teachers per child. Families pay monthly, by the seventh. Each payment covers four Thursdays plus thirteen dollars for snacks, wipes, and craft materials, so a toddler is ninety three dollars a month and a baby is a hundred thirteen. May has only two Thursdays, so it is about half. Or they can pay in full and save ten percent. These Founding Family rates stay the same while a child is enrolled; families who join next semester pay twenty five a day, thirty for babies.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line: there is no risk to the church. Green is what comes in, red is what goes out. At twenty dollars a day, twenty five for babies, a full first semester of thirty kids pays for itself. If enrollment comes in low, our donor covers the difference, so the church is not out anything: about thirty two hundred with twelve kids, and about eight hundred with eighteen. We are capping this first semester at 30. New families who join later pay a little more, and that is how KDO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risk to the church in any column: the net line never goes below zero, because our donor covers any gap. Tuition is twenty dollars a Thursday, twenty five for babies, times 18 Thursdays. Low assumes 4 babies; medium and high assume 6, one full baby room. We set aside 10 percent for sibling and pay-in-full discounts. Teachers and the director are paid for 6 hours each Thursday so we can set up and pray together before the kids arrive. With thirty kids, KDO pays for itself. With fewer, our donor covers the gap, so the church is not out anything. Thirty kids is our cap this semester. Insurance is not included; adding KDO to the church's policy is one of our questions for the church.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long-term plan. We start low on purpose. This first semester is not about making money; at thirty kids it just covers its costs, and if things go slowly our donor covers the gap, so the church is never out anything. Then each semester we add one room, and new families pay twenty five a day, thirty for babies. That is as high as our prices go. The original families keep their founding price the whole time their child is enrolled. With modest growth, KDO is about eight thousand dollars ahead after three semesters.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KDO would belong to First Baptist Alma, with written policies and a handbook the church adopts, so it continues through any staff change. We would love the church's help with background checks, payroll and tuition, insurance, the check-in system, and setting up kdo@firstalma.com, the address already on the website and handbooks. We will leave every room as clean and organized as we found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handbooks, registration site, budget, and logo are ready now. If you approve, here is what happens between now and our first Thursday on January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ahead and scan this with your phone. Pick any made-up child and send a registration. [Open the KDO Sign-ups Google Sheet on the screen.] Here it is in the Kids tab, and the Summary tab already shows the room, the waitlist, and the budget. Thank you, I would love to answer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624"/>
        </a:solidFill>
      </p:bgPr>
    </p:bg>
    <p:spTree>
      <p:nvGrpSpPr>
        <p:cNvPr id="1" name=""/>
        <p:cNvGrpSpPr/>
        <p:nvPr/>
      </p:nvGrpSpPr>
      <p:grpSpPr>
        <a:xfrm>
          <a:off x="0" y="0"/>
          <a:ext cx="0" cy="0"/>
          <a:chOff x="0" y="0"/>
          <a:chExt cx="0" cy="0"/>
        </a:xfrm>
      </p:grpSpPr>
      <p:sp>
        <p:nvSpPr>
          <p:cNvPr id="2" name="Shape 0"/>
          <p:cNvSpPr/>
          <p:nvPr/>
        </p:nvSpPr>
        <p:spPr>
          <a:xfrm>
            <a:off x="0" y="6035040"/>
            <a:ext cx="12188952" cy="822960"/>
          </a:xfrm>
          <a:prstGeom prst="rect">
            <a:avLst/>
          </a:prstGeom>
          <a:solidFill>
            <a:srgbClr val="40ACA1"/>
          </a:solidFill>
          <a:ln w="12700">
            <a:solidFill>
              <a:srgbClr val="40ACA1"/>
            </a:solidFill>
            <a:prstDash val="solid"/>
          </a:ln>
        </p:spPr>
      </p:sp>
      <p:pic>
        <p:nvPicPr>
          <p:cNvPr id="3" name="Image 0" descr="/Users/cgillum1/Desktop/Personal/Kids Day Out/Deck/assets/kdo-sunrise-white.png">    </p:cNvPr>
          <p:cNvPicPr>
            <a:picLocks noChangeAspect="1"/>
          </p:cNvPicPr>
          <p:nvPr/>
        </p:nvPicPr>
        <p:blipFill>
          <a:blip r:embed="rId1"/>
          <a:stretch>
            <a:fillRect/>
          </a:stretch>
        </p:blipFill>
        <p:spPr>
          <a:xfrm>
            <a:off x="731520" y="640080"/>
            <a:ext cx="2926080" cy="1655064"/>
          </a:xfrm>
          <a:prstGeom prst="rect">
            <a:avLst/>
          </a:prstGeom>
        </p:spPr>
      </p:pic>
      <p:sp>
        <p:nvSpPr>
          <p:cNvPr id="4" name="Text 1"/>
          <p:cNvSpPr/>
          <p:nvPr/>
        </p:nvSpPr>
        <p:spPr>
          <a:xfrm>
            <a:off x="777240" y="2697480"/>
            <a:ext cx="8229600" cy="365760"/>
          </a:xfrm>
          <a:prstGeom prst="rect">
            <a:avLst/>
          </a:prstGeom>
          <a:noFill/>
          <a:ln/>
        </p:spPr>
        <p:txBody>
          <a:bodyPr wrap="square" lIns="0" tIns="0" rIns="0" bIns="0" rtlCol="0" anchor="ctr"/>
          <a:lstStyle/>
          <a:p>
            <a:pPr indent="0" marL="0">
              <a:buNone/>
            </a:pPr>
            <a:r>
              <a:rPr lang="en-US" sz="1400" b="1" spc="400" kern="0" dirty="0">
                <a:solidFill>
                  <a:srgbClr val="8FD6CE"/>
                </a:solidFill>
                <a:latin typeface="DM Sans" pitchFamily="34" charset="0"/>
                <a:ea typeface="DM Sans" pitchFamily="34" charset="-122"/>
                <a:cs typeface="DM Sans" pitchFamily="34" charset="-120"/>
              </a:rPr>
              <a:t>A PROPOSAL FOR FIRST BAPTIST CHURCH ALMA</a:t>
            </a:r>
            <a:endParaRPr lang="en-US" sz="1400" dirty="0"/>
          </a:p>
        </p:txBody>
      </p:sp>
      <p:sp>
        <p:nvSpPr>
          <p:cNvPr id="5" name="Text 2"/>
          <p:cNvSpPr/>
          <p:nvPr/>
        </p:nvSpPr>
        <p:spPr>
          <a:xfrm>
            <a:off x="731520" y="3017520"/>
            <a:ext cx="8229600" cy="1325880"/>
          </a:xfrm>
          <a:prstGeom prst="rect">
            <a:avLst/>
          </a:prstGeom>
          <a:noFill/>
          <a:ln/>
        </p:spPr>
        <p:txBody>
          <a:bodyPr wrap="square" lIns="0" tIns="0" rIns="0" bIns="0" rtlCol="0" anchor="ctr"/>
          <a:lstStyle/>
          <a:p>
            <a:pPr indent="0" marL="0">
              <a:buNone/>
            </a:pPr>
            <a:r>
              <a:rPr lang="en-US" sz="6600" dirty="0">
                <a:solidFill>
                  <a:srgbClr val="FFFFFF"/>
                </a:solidFill>
                <a:latin typeface="DM Serif Text" pitchFamily="34" charset="0"/>
                <a:ea typeface="DM Serif Text" pitchFamily="34" charset="-122"/>
                <a:cs typeface="DM Serif Text" pitchFamily="34" charset="-120"/>
              </a:rPr>
              <a:t>Kids Day Out</a:t>
            </a:r>
            <a:endParaRPr lang="en-US" sz="6600" dirty="0"/>
          </a:p>
        </p:txBody>
      </p:sp>
      <p:sp>
        <p:nvSpPr>
          <p:cNvPr id="6" name="Text 3"/>
          <p:cNvSpPr/>
          <p:nvPr/>
        </p:nvSpPr>
        <p:spPr>
          <a:xfrm>
            <a:off x="777240" y="4389120"/>
            <a:ext cx="8229600" cy="548640"/>
          </a:xfrm>
          <a:prstGeom prst="rect">
            <a:avLst/>
          </a:prstGeom>
          <a:noFill/>
          <a:ln/>
        </p:spPr>
        <p:txBody>
          <a:bodyPr wrap="square" lIns="0" tIns="0" rIns="0" bIns="0" rtlCol="0" anchor="ctr"/>
          <a:lstStyle/>
          <a:p>
            <a:pPr indent="0" marL="0">
              <a:buNone/>
            </a:pPr>
            <a:r>
              <a:rPr lang="en-US" sz="2200" dirty="0">
                <a:solidFill>
                  <a:srgbClr val="E8E2D3"/>
                </a:solidFill>
                <a:latin typeface="DM Sans" pitchFamily="34" charset="0"/>
                <a:ea typeface="DM Sans" pitchFamily="34" charset="-122"/>
                <a:cs typeface="DM Sans" pitchFamily="34" charset="-120"/>
              </a:rPr>
              <a:t>Thursdays, 9:00 to 2:00  |  Ages 6 months to Pre-K</a:t>
            </a:r>
            <a:endParaRPr lang="en-US" sz="2200" dirty="0"/>
          </a:p>
        </p:txBody>
      </p:sp>
      <p:sp>
        <p:nvSpPr>
          <p:cNvPr id="7" name="Text 4"/>
          <p:cNvSpPr/>
          <p:nvPr/>
        </p:nvSpPr>
        <p:spPr>
          <a:xfrm>
            <a:off x="777240" y="6236208"/>
            <a:ext cx="7315200" cy="411480"/>
          </a:xfrm>
          <a:prstGeom prst="rect">
            <a:avLst/>
          </a:prstGeom>
          <a:noFill/>
          <a:ln/>
        </p:spPr>
        <p:txBody>
          <a:bodyPr wrap="square" lIns="0" tIns="0" rIns="0" bIns="0" rtlCol="0" anchor="ctr"/>
          <a:lstStyle/>
          <a:p>
            <a:pPr indent="0" marL="0">
              <a:buNone/>
            </a:pPr>
            <a:r>
              <a:rPr lang="en-US" sz="1600" b="1" dirty="0">
                <a:solidFill>
                  <a:srgbClr val="FFFFFF"/>
                </a:solidFill>
                <a:latin typeface="DM Sans" pitchFamily="34" charset="0"/>
                <a:ea typeface="DM Sans" pitchFamily="34" charset="-122"/>
                <a:cs typeface="DM Sans" pitchFamily="34" charset="-120"/>
              </a:rPr>
              <a:t>Presented by Kim Vaught, Director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02</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INTRODUCTION</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Kids Day Out at a glance</a:t>
            </a:r>
            <a:endParaRPr lang="en-US" sz="4000" dirty="0"/>
          </a:p>
        </p:txBody>
      </p:sp>
      <p:sp>
        <p:nvSpPr>
          <p:cNvPr id="7" name="Shape 4"/>
          <p:cNvSpPr/>
          <p:nvPr/>
        </p:nvSpPr>
        <p:spPr>
          <a:xfrm>
            <a:off x="457200" y="2468880"/>
            <a:ext cx="2560320" cy="2935224"/>
          </a:xfrm>
          <a:prstGeom prst="rect">
            <a:avLst/>
          </a:prstGeom>
          <a:solidFill>
            <a:srgbClr val="FFFFFF"/>
          </a:solidFill>
          <a:ln w="12700">
            <a:solidFill>
              <a:srgbClr val="E8E2D3"/>
            </a:solidFill>
            <a:prstDash val="solid"/>
          </a:ln>
        </p:spPr>
      </p:sp>
      <p:pic>
        <p:nvPicPr>
          <p:cNvPr id="8" name="Image 1" descr="/Users/cgillum1/Desktop/Personal/Kids Day Out/Deck/assets/s2-kim.jpg">    </p:cNvPr>
          <p:cNvPicPr>
            <a:picLocks noChangeAspect="1"/>
          </p:cNvPicPr>
          <p:nvPr/>
        </p:nvPicPr>
        <p:blipFill>
          <a:blip r:embed="rId2"/>
          <a:stretch>
            <a:fillRect/>
          </a:stretch>
        </p:blipFill>
        <p:spPr>
          <a:xfrm>
            <a:off x="548640" y="2560320"/>
            <a:ext cx="2377440" cy="2770632"/>
          </a:xfrm>
          <a:prstGeom prst="rect">
            <a:avLst/>
          </a:prstGeom>
        </p:spPr>
      </p:pic>
      <p:sp>
        <p:nvSpPr>
          <p:cNvPr id="9" name="Text 5"/>
          <p:cNvSpPr/>
          <p:nvPr/>
        </p:nvSpPr>
        <p:spPr>
          <a:xfrm>
            <a:off x="3291840" y="2468880"/>
            <a:ext cx="2926080" cy="548640"/>
          </a:xfrm>
          <a:prstGeom prst="rect">
            <a:avLst/>
          </a:prstGeom>
          <a:noFill/>
          <a:ln/>
        </p:spPr>
        <p:txBody>
          <a:bodyPr wrap="square" lIns="0" tIns="0" rIns="0" bIns="0" rtlCol="0" anchor="ctr"/>
          <a:lstStyle/>
          <a:p>
            <a:pPr indent="0" marL="0">
              <a:buNone/>
            </a:pPr>
            <a:r>
              <a:rPr lang="en-US" sz="2600" dirty="0">
                <a:solidFill>
                  <a:srgbClr val="1E2624"/>
                </a:solidFill>
                <a:latin typeface="DM Serif Text" pitchFamily="34" charset="0"/>
                <a:ea typeface="DM Serif Text" pitchFamily="34" charset="-122"/>
                <a:cs typeface="DM Serif Text" pitchFamily="34" charset="-120"/>
              </a:rPr>
              <a:t>Kim Vaught</a:t>
            </a:r>
            <a:endParaRPr lang="en-US" sz="2600" dirty="0"/>
          </a:p>
        </p:txBody>
      </p:sp>
      <p:sp>
        <p:nvSpPr>
          <p:cNvPr id="10" name="Text 6"/>
          <p:cNvSpPr/>
          <p:nvPr/>
        </p:nvSpPr>
        <p:spPr>
          <a:xfrm>
            <a:off x="3291840" y="3017520"/>
            <a:ext cx="2926080" cy="320040"/>
          </a:xfrm>
          <a:prstGeom prst="rect">
            <a:avLst/>
          </a:prstGeom>
          <a:noFill/>
          <a:ln/>
        </p:spPr>
        <p:txBody>
          <a:bodyPr wrap="square" lIns="0" tIns="0" rIns="0" bIns="0" rtlCol="0" anchor="ctr"/>
          <a:lstStyle/>
          <a:p>
            <a:pPr indent="0" marL="0">
              <a:buNone/>
            </a:pPr>
            <a:r>
              <a:rPr lang="en-US" sz="1200" b="1" spc="300" kern="0" dirty="0">
                <a:solidFill>
                  <a:srgbClr val="2E8A80"/>
                </a:solidFill>
                <a:latin typeface="DM Sans" pitchFamily="34" charset="0"/>
                <a:ea typeface="DM Sans" pitchFamily="34" charset="-122"/>
                <a:cs typeface="DM Sans" pitchFamily="34" charset="-120"/>
              </a:rPr>
              <a:t>DIRECTOR</a:t>
            </a:r>
            <a:endParaRPr lang="en-US" sz="1200" dirty="0"/>
          </a:p>
        </p:txBody>
      </p:sp>
      <p:sp>
        <p:nvSpPr>
          <p:cNvPr id="11" name="Shape 7"/>
          <p:cNvSpPr/>
          <p:nvPr/>
        </p:nvSpPr>
        <p:spPr>
          <a:xfrm>
            <a:off x="3291840" y="3474720"/>
            <a:ext cx="2743200" cy="402336"/>
          </a:xfrm>
          <a:prstGeom prst="roundRect">
            <a:avLst>
              <a:gd name="adj" fmla="val 50000"/>
            </a:avLst>
          </a:prstGeom>
          <a:solidFill>
            <a:srgbClr val="FFFFFF"/>
          </a:solidFill>
          <a:ln w="12700">
            <a:solidFill>
              <a:srgbClr val="E8E2D3"/>
            </a:solidFill>
            <a:prstDash val="solid"/>
          </a:ln>
        </p:spPr>
      </p:sp>
      <p:sp>
        <p:nvSpPr>
          <p:cNvPr id="12" name="Text 8"/>
          <p:cNvSpPr/>
          <p:nvPr/>
        </p:nvSpPr>
        <p:spPr>
          <a:xfrm>
            <a:off x="3291840" y="3474720"/>
            <a:ext cx="2743200" cy="402336"/>
          </a:xfrm>
          <a:prstGeom prst="rect">
            <a:avLst/>
          </a:prstGeom>
          <a:noFill/>
          <a:ln/>
        </p:spPr>
        <p:txBody>
          <a:bodyPr wrap="square" lIns="0" tIns="0" rIns="0" bIns="0" rtlCol="0" anchor="ctr"/>
          <a:lstStyle/>
          <a:p>
            <a:pPr algn="ctr" indent="0" marL="0">
              <a:buNone/>
            </a:pPr>
            <a:r>
              <a:rPr lang="en-US" sz="1200" b="1" dirty="0">
                <a:solidFill>
                  <a:srgbClr val="1E2624"/>
                </a:solidFill>
                <a:latin typeface="DM Sans" pitchFamily="34" charset="0"/>
                <a:ea typeface="DM Sans" pitchFamily="34" charset="-122"/>
                <a:cs typeface="DM Sans" pitchFamily="34" charset="-120"/>
              </a:rPr>
              <a:t>LCSW and LCSW supervisor</a:t>
            </a:r>
            <a:endParaRPr lang="en-US" sz="1200" dirty="0"/>
          </a:p>
        </p:txBody>
      </p:sp>
      <p:sp>
        <p:nvSpPr>
          <p:cNvPr id="13" name="Shape 9"/>
          <p:cNvSpPr/>
          <p:nvPr/>
        </p:nvSpPr>
        <p:spPr>
          <a:xfrm>
            <a:off x="3291840" y="3977640"/>
            <a:ext cx="2743200" cy="402336"/>
          </a:xfrm>
          <a:prstGeom prst="roundRect">
            <a:avLst>
              <a:gd name="adj" fmla="val 50000"/>
            </a:avLst>
          </a:prstGeom>
          <a:solidFill>
            <a:srgbClr val="FFFFFF"/>
          </a:solidFill>
          <a:ln w="12700">
            <a:solidFill>
              <a:srgbClr val="E8E2D3"/>
            </a:solidFill>
            <a:prstDash val="solid"/>
          </a:ln>
        </p:spPr>
      </p:sp>
      <p:sp>
        <p:nvSpPr>
          <p:cNvPr id="14" name="Text 10"/>
          <p:cNvSpPr/>
          <p:nvPr/>
        </p:nvSpPr>
        <p:spPr>
          <a:xfrm>
            <a:off x="3291840" y="3977640"/>
            <a:ext cx="2743200" cy="402336"/>
          </a:xfrm>
          <a:prstGeom prst="rect">
            <a:avLst/>
          </a:prstGeom>
          <a:noFill/>
          <a:ln/>
        </p:spPr>
        <p:txBody>
          <a:bodyPr wrap="square" lIns="0" tIns="0" rIns="0" bIns="0" rtlCol="0" anchor="ctr"/>
          <a:lstStyle/>
          <a:p>
            <a:pPr algn="ctr" indent="0" marL="0">
              <a:buNone/>
            </a:pPr>
            <a:r>
              <a:rPr lang="en-US" sz="1200" b="1" dirty="0">
                <a:solidFill>
                  <a:srgbClr val="1E2624"/>
                </a:solidFill>
                <a:latin typeface="DM Sans" pitchFamily="34" charset="0"/>
                <a:ea typeface="DM Sans" pitchFamily="34" charset="-122"/>
                <a:cs typeface="DM Sans" pitchFamily="34" charset="-120"/>
              </a:rPr>
              <a:t>Master's in Social Work</a:t>
            </a:r>
            <a:endParaRPr lang="en-US" sz="1200" dirty="0"/>
          </a:p>
        </p:txBody>
      </p:sp>
      <p:sp>
        <p:nvSpPr>
          <p:cNvPr id="15" name="Shape 11"/>
          <p:cNvSpPr/>
          <p:nvPr/>
        </p:nvSpPr>
        <p:spPr>
          <a:xfrm>
            <a:off x="3291840" y="4480560"/>
            <a:ext cx="2743200" cy="402336"/>
          </a:xfrm>
          <a:prstGeom prst="roundRect">
            <a:avLst>
              <a:gd name="adj" fmla="val 50000"/>
            </a:avLst>
          </a:prstGeom>
          <a:solidFill>
            <a:srgbClr val="FFFFFF"/>
          </a:solidFill>
          <a:ln w="12700">
            <a:solidFill>
              <a:srgbClr val="E8E2D3"/>
            </a:solidFill>
            <a:prstDash val="solid"/>
          </a:ln>
        </p:spPr>
      </p:sp>
      <p:sp>
        <p:nvSpPr>
          <p:cNvPr id="16" name="Text 12"/>
          <p:cNvSpPr/>
          <p:nvPr/>
        </p:nvSpPr>
        <p:spPr>
          <a:xfrm>
            <a:off x="3291840" y="4480560"/>
            <a:ext cx="2743200" cy="402336"/>
          </a:xfrm>
          <a:prstGeom prst="rect">
            <a:avLst/>
          </a:prstGeom>
          <a:noFill/>
          <a:ln/>
        </p:spPr>
        <p:txBody>
          <a:bodyPr wrap="square" lIns="0" tIns="0" rIns="0" bIns="0" rtlCol="0" anchor="ctr"/>
          <a:lstStyle/>
          <a:p>
            <a:pPr algn="ctr" indent="0" marL="0">
              <a:buNone/>
            </a:pPr>
            <a:r>
              <a:rPr lang="en-US" sz="1200" b="1" dirty="0">
                <a:solidFill>
                  <a:srgbClr val="1E2624"/>
                </a:solidFill>
                <a:latin typeface="DM Sans" pitchFamily="34" charset="0"/>
                <a:ea typeface="DM Sans" pitchFamily="34" charset="-122"/>
                <a:cs typeface="DM Sans" pitchFamily="34" charset="-120"/>
              </a:rPr>
              <a:t>Clinical supervisor, Arisa Health</a:t>
            </a:r>
            <a:endParaRPr lang="en-US" sz="1200" dirty="0"/>
          </a:p>
        </p:txBody>
      </p:sp>
      <p:sp>
        <p:nvSpPr>
          <p:cNvPr id="17" name="Shape 13"/>
          <p:cNvSpPr/>
          <p:nvPr/>
        </p:nvSpPr>
        <p:spPr>
          <a:xfrm>
            <a:off x="3291840" y="4983480"/>
            <a:ext cx="2743200" cy="402336"/>
          </a:xfrm>
          <a:prstGeom prst="roundRect">
            <a:avLst>
              <a:gd name="adj" fmla="val 50000"/>
            </a:avLst>
          </a:prstGeom>
          <a:solidFill>
            <a:srgbClr val="FFFFFF"/>
          </a:solidFill>
          <a:ln w="12700">
            <a:solidFill>
              <a:srgbClr val="E8E2D3"/>
            </a:solidFill>
            <a:prstDash val="solid"/>
          </a:ln>
        </p:spPr>
      </p:sp>
      <p:sp>
        <p:nvSpPr>
          <p:cNvPr id="18" name="Text 14"/>
          <p:cNvSpPr/>
          <p:nvPr/>
        </p:nvSpPr>
        <p:spPr>
          <a:xfrm>
            <a:off x="3291840" y="4983480"/>
            <a:ext cx="2743200" cy="402336"/>
          </a:xfrm>
          <a:prstGeom prst="rect">
            <a:avLst/>
          </a:prstGeom>
          <a:noFill/>
          <a:ln/>
        </p:spPr>
        <p:txBody>
          <a:bodyPr wrap="square" lIns="0" tIns="0" rIns="0" bIns="0" rtlCol="0" anchor="ctr"/>
          <a:lstStyle/>
          <a:p>
            <a:pPr algn="ctr" indent="0" marL="0">
              <a:buNone/>
            </a:pPr>
            <a:r>
              <a:rPr lang="en-US" sz="1200" b="1" dirty="0">
                <a:solidFill>
                  <a:srgbClr val="1E2624"/>
                </a:solidFill>
                <a:latin typeface="DM Sans" pitchFamily="34" charset="0"/>
                <a:ea typeface="DM Sans" pitchFamily="34" charset="-122"/>
                <a:cs typeface="DM Sans" pitchFamily="34" charset="-120"/>
              </a:rPr>
              <a:t>3 years in Kids Day Out</a:t>
            </a:r>
            <a:endParaRPr lang="en-US" sz="1200" dirty="0"/>
          </a:p>
        </p:txBody>
      </p:sp>
      <p:sp>
        <p:nvSpPr>
          <p:cNvPr id="19" name="Text 15"/>
          <p:cNvSpPr/>
          <p:nvPr/>
        </p:nvSpPr>
        <p:spPr>
          <a:xfrm>
            <a:off x="6675120" y="2468880"/>
            <a:ext cx="4937760" cy="548640"/>
          </a:xfrm>
          <a:prstGeom prst="rect">
            <a:avLst/>
          </a:prstGeom>
          <a:noFill/>
          <a:ln/>
        </p:spPr>
        <p:txBody>
          <a:bodyPr wrap="square" lIns="0" tIns="0" rIns="0" bIns="0" rtlCol="0" anchor="ctr"/>
          <a:lstStyle/>
          <a:p>
            <a:pPr indent="0" marL="0">
              <a:buNone/>
            </a:pPr>
            <a:r>
              <a:rPr lang="en-US" sz="3000" dirty="0">
                <a:solidFill>
                  <a:srgbClr val="1E2624"/>
                </a:solidFill>
                <a:latin typeface="DM Serif Text" pitchFamily="34" charset="0"/>
                <a:ea typeface="DM Serif Text" pitchFamily="34" charset="-122"/>
                <a:cs typeface="DM Serif Text" pitchFamily="34" charset="-120"/>
              </a:rPr>
              <a:t>Thursdays</a:t>
            </a:r>
            <a:endParaRPr lang="en-US" sz="3000" dirty="0"/>
          </a:p>
        </p:txBody>
      </p:sp>
      <p:sp>
        <p:nvSpPr>
          <p:cNvPr id="20" name="Text 16"/>
          <p:cNvSpPr/>
          <p:nvPr/>
        </p:nvSpPr>
        <p:spPr>
          <a:xfrm>
            <a:off x="6675120" y="2971800"/>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9:00 to 2:00</a:t>
            </a:r>
            <a:endParaRPr lang="en-US" sz="1400" dirty="0"/>
          </a:p>
        </p:txBody>
      </p:sp>
      <p:sp>
        <p:nvSpPr>
          <p:cNvPr id="21" name="Text 17"/>
          <p:cNvSpPr/>
          <p:nvPr/>
        </p:nvSpPr>
        <p:spPr>
          <a:xfrm>
            <a:off x="6675120" y="3355848"/>
            <a:ext cx="4937760" cy="548640"/>
          </a:xfrm>
          <a:prstGeom prst="rect">
            <a:avLst/>
          </a:prstGeom>
          <a:noFill/>
          <a:ln/>
        </p:spPr>
        <p:txBody>
          <a:bodyPr wrap="square" lIns="0" tIns="0" rIns="0" bIns="0" rtlCol="0" anchor="ctr"/>
          <a:lstStyle/>
          <a:p>
            <a:pPr indent="0" marL="0">
              <a:buNone/>
            </a:pPr>
            <a:r>
              <a:rPr lang="en-US" sz="3000" dirty="0">
                <a:solidFill>
                  <a:srgbClr val="1E2624"/>
                </a:solidFill>
                <a:latin typeface="DM Serif Text" pitchFamily="34" charset="0"/>
                <a:ea typeface="DM Serif Text" pitchFamily="34" charset="-122"/>
                <a:cs typeface="DM Serif Text" pitchFamily="34" charset="-120"/>
              </a:rPr>
              <a:t>6 months to Pre-K</a:t>
            </a:r>
            <a:endParaRPr lang="en-US" sz="3000" dirty="0"/>
          </a:p>
        </p:txBody>
      </p:sp>
      <p:sp>
        <p:nvSpPr>
          <p:cNvPr id="22" name="Text 18"/>
          <p:cNvSpPr/>
          <p:nvPr/>
        </p:nvSpPr>
        <p:spPr>
          <a:xfrm>
            <a:off x="6675120" y="3858768"/>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ages</a:t>
            </a:r>
            <a:endParaRPr lang="en-US" sz="1400" dirty="0"/>
          </a:p>
        </p:txBody>
      </p:sp>
      <p:sp>
        <p:nvSpPr>
          <p:cNvPr id="23" name="Text 19"/>
          <p:cNvSpPr/>
          <p:nvPr/>
        </p:nvSpPr>
        <p:spPr>
          <a:xfrm>
            <a:off x="6675120" y="4242816"/>
            <a:ext cx="4937760" cy="548640"/>
          </a:xfrm>
          <a:prstGeom prst="rect">
            <a:avLst/>
          </a:prstGeom>
          <a:noFill/>
          <a:ln/>
        </p:spPr>
        <p:txBody>
          <a:bodyPr wrap="square" lIns="0" tIns="0" rIns="0" bIns="0" rtlCol="0" anchor="ctr"/>
          <a:lstStyle/>
          <a:p>
            <a:pPr indent="0" marL="0">
              <a:buNone/>
            </a:pPr>
            <a:r>
              <a:rPr lang="en-US" sz="3000" dirty="0">
                <a:solidFill>
                  <a:srgbClr val="1E2624"/>
                </a:solidFill>
                <a:latin typeface="DM Serif Text" pitchFamily="34" charset="0"/>
                <a:ea typeface="DM Serif Text" pitchFamily="34" charset="-122"/>
                <a:cs typeface="DM Serif Text" pitchFamily="34" charset="-120"/>
              </a:rPr>
              <a:t>18 Thursdays</a:t>
            </a:r>
            <a:endParaRPr lang="en-US" sz="3000" dirty="0"/>
          </a:p>
        </p:txBody>
      </p:sp>
      <p:sp>
        <p:nvSpPr>
          <p:cNvPr id="24" name="Text 20"/>
          <p:cNvSpPr/>
          <p:nvPr/>
        </p:nvSpPr>
        <p:spPr>
          <a:xfrm>
            <a:off x="6675120" y="4745736"/>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January 7 to May 20, 2027</a:t>
            </a:r>
            <a:endParaRPr lang="en-US" sz="1400" dirty="0"/>
          </a:p>
        </p:txBody>
      </p:sp>
      <p:sp>
        <p:nvSpPr>
          <p:cNvPr id="25" name="Text 21"/>
          <p:cNvSpPr/>
          <p:nvPr/>
        </p:nvSpPr>
        <p:spPr>
          <a:xfrm>
            <a:off x="6675120" y="5129784"/>
            <a:ext cx="4937760" cy="548640"/>
          </a:xfrm>
          <a:prstGeom prst="rect">
            <a:avLst/>
          </a:prstGeom>
          <a:noFill/>
          <a:ln/>
        </p:spPr>
        <p:txBody>
          <a:bodyPr wrap="square" lIns="0" tIns="0" rIns="0" bIns="0" rtlCol="0" anchor="ctr"/>
          <a:lstStyle/>
          <a:p>
            <a:pPr indent="0" marL="0">
              <a:buNone/>
            </a:pPr>
            <a:r>
              <a:rPr lang="en-US" sz="3000" dirty="0">
                <a:solidFill>
                  <a:srgbClr val="1E2624"/>
                </a:solidFill>
                <a:latin typeface="DM Serif Text" pitchFamily="34" charset="0"/>
                <a:ea typeface="DM Serif Text" pitchFamily="34" charset="-122"/>
                <a:cs typeface="DM Serif Text" pitchFamily="34" charset="-120"/>
              </a:rPr>
              <a:t>1 day a week</a:t>
            </a:r>
            <a:endParaRPr lang="en-US" sz="3000" dirty="0"/>
          </a:p>
        </p:txBody>
      </p:sp>
      <p:sp>
        <p:nvSpPr>
          <p:cNvPr id="26" name="Text 22"/>
          <p:cNvSpPr/>
          <p:nvPr/>
        </p:nvSpPr>
        <p:spPr>
          <a:xfrm>
            <a:off x="6675120" y="5632704"/>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to start</a:t>
            </a:r>
            <a:endParaRPr lang="en-US" sz="1400" dirty="0"/>
          </a:p>
        </p:txBody>
      </p:sp>
      <p:sp>
        <p:nvSpPr>
          <p:cNvPr id="27" name="Shape 23"/>
          <p:cNvSpPr/>
          <p:nvPr/>
        </p:nvSpPr>
        <p:spPr>
          <a:xfrm>
            <a:off x="6355080" y="2514600"/>
            <a:ext cx="0" cy="3383280"/>
          </a:xfrm>
          <a:prstGeom prst="line">
            <a:avLst/>
          </a:prstGeom>
          <a:noFill/>
          <a:ln w="19050">
            <a:solidFill>
              <a:srgbClr val="E8E2D3"/>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03</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THE NEED</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Why Alma needs KDO</a:t>
            </a:r>
            <a:endParaRPr lang="en-US" sz="4000" dirty="0"/>
          </a:p>
        </p:txBody>
      </p:sp>
      <p:sp>
        <p:nvSpPr>
          <p:cNvPr id="7" name="Shape 4"/>
          <p:cNvSpPr/>
          <p:nvPr/>
        </p:nvSpPr>
        <p:spPr>
          <a:xfrm>
            <a:off x="548640" y="2377440"/>
            <a:ext cx="3520440" cy="2743200"/>
          </a:xfrm>
          <a:prstGeom prst="roundRect">
            <a:avLst>
              <a:gd name="adj" fmla="val 6000"/>
            </a:avLst>
          </a:prstGeom>
          <a:solidFill>
            <a:srgbClr val="FFFFFF"/>
          </a:solidFill>
          <a:ln w="12700">
            <a:solidFill>
              <a:srgbClr val="E8E2D3"/>
            </a:solidFill>
            <a:prstDash val="solid"/>
          </a:ln>
        </p:spPr>
      </p:sp>
      <p:sp>
        <p:nvSpPr>
          <p:cNvPr id="8" name="Text 5"/>
          <p:cNvSpPr/>
          <p:nvPr/>
        </p:nvSpPr>
        <p:spPr>
          <a:xfrm>
            <a:off x="548640" y="2606040"/>
            <a:ext cx="3520440" cy="1298448"/>
          </a:xfrm>
          <a:prstGeom prst="rect">
            <a:avLst/>
          </a:prstGeom>
          <a:noFill/>
          <a:ln/>
        </p:spPr>
        <p:txBody>
          <a:bodyPr wrap="square" lIns="0" tIns="0" rIns="0" bIns="0" rtlCol="0" anchor="ctr"/>
          <a:lstStyle/>
          <a:p>
            <a:pPr algn="ctr" indent="0" marL="0">
              <a:buNone/>
            </a:pPr>
            <a:r>
              <a:rPr lang="en-US" sz="6600" dirty="0">
                <a:solidFill>
                  <a:srgbClr val="2E8A80"/>
                </a:solidFill>
                <a:latin typeface="DM Serif Text" pitchFamily="34" charset="0"/>
                <a:ea typeface="DM Serif Text" pitchFamily="34" charset="-122"/>
                <a:cs typeface="DM Serif Text" pitchFamily="34" charset="-120"/>
              </a:rPr>
              <a:t>0</a:t>
            </a:r>
            <a:endParaRPr lang="en-US" sz="6600" dirty="0"/>
          </a:p>
        </p:txBody>
      </p:sp>
      <p:sp>
        <p:nvSpPr>
          <p:cNvPr id="9" name="Text 6"/>
          <p:cNvSpPr/>
          <p:nvPr/>
        </p:nvSpPr>
        <p:spPr>
          <a:xfrm>
            <a:off x="868680" y="3931920"/>
            <a:ext cx="2880360" cy="1005840"/>
          </a:xfrm>
          <a:prstGeom prst="rect">
            <a:avLst/>
          </a:prstGeom>
          <a:noFill/>
          <a:ln/>
        </p:spPr>
        <p:txBody>
          <a:bodyPr wrap="square" lIns="0" tIns="0" rIns="0" bIns="0" rtlCol="0" anchor="t"/>
          <a:lstStyle/>
          <a:p>
            <a:pPr algn="ctr" indent="0" marL="0">
              <a:buNone/>
            </a:pPr>
            <a:r>
              <a:rPr lang="en-US" sz="1700" dirty="0">
                <a:solidFill>
                  <a:srgbClr val="1E2624"/>
                </a:solidFill>
                <a:latin typeface="DM Sans" pitchFamily="34" charset="0"/>
                <a:ea typeface="DM Sans" pitchFamily="34" charset="-122"/>
                <a:cs typeface="DM Sans" pitchFamily="34" charset="-120"/>
              </a:rPr>
              <a:t>Mother's Day Out or Kids Day Out programs in Alma</a:t>
            </a:r>
            <a:endParaRPr lang="en-US" sz="1700" dirty="0"/>
          </a:p>
        </p:txBody>
      </p:sp>
      <p:sp>
        <p:nvSpPr>
          <p:cNvPr id="10" name="Shape 7"/>
          <p:cNvSpPr/>
          <p:nvPr/>
        </p:nvSpPr>
        <p:spPr>
          <a:xfrm>
            <a:off x="4297680" y="2377440"/>
            <a:ext cx="3520440" cy="2743200"/>
          </a:xfrm>
          <a:prstGeom prst="roundRect">
            <a:avLst>
              <a:gd name="adj" fmla="val 6000"/>
            </a:avLst>
          </a:prstGeom>
          <a:solidFill>
            <a:srgbClr val="FFFFFF"/>
          </a:solidFill>
          <a:ln w="12700">
            <a:solidFill>
              <a:srgbClr val="E8E2D3"/>
            </a:solidFill>
            <a:prstDash val="solid"/>
          </a:ln>
        </p:spPr>
      </p:sp>
      <p:sp>
        <p:nvSpPr>
          <p:cNvPr id="11" name="Text 8"/>
          <p:cNvSpPr/>
          <p:nvPr/>
        </p:nvSpPr>
        <p:spPr>
          <a:xfrm>
            <a:off x="4297680" y="2606040"/>
            <a:ext cx="3520440" cy="1298448"/>
          </a:xfrm>
          <a:prstGeom prst="rect">
            <a:avLst/>
          </a:prstGeom>
          <a:noFill/>
          <a:ln/>
        </p:spPr>
        <p:txBody>
          <a:bodyPr wrap="square" lIns="0" tIns="0" rIns="0" bIns="0" rtlCol="0" anchor="ctr"/>
          <a:lstStyle/>
          <a:p>
            <a:pPr algn="ctr" indent="0" marL="0">
              <a:buNone/>
            </a:pPr>
            <a:r>
              <a:rPr lang="en-US" sz="6600" dirty="0">
                <a:solidFill>
                  <a:srgbClr val="2E8A80"/>
                </a:solidFill>
                <a:latin typeface="DM Serif Text" pitchFamily="34" charset="0"/>
                <a:ea typeface="DM Serif Text" pitchFamily="34" charset="-122"/>
                <a:cs typeface="DM Serif Text" pitchFamily="34" charset="-120"/>
              </a:rPr>
              <a:t>530</a:t>
            </a:r>
            <a:endParaRPr lang="en-US" sz="6600" dirty="0"/>
          </a:p>
        </p:txBody>
      </p:sp>
      <p:sp>
        <p:nvSpPr>
          <p:cNvPr id="12" name="Text 9"/>
          <p:cNvSpPr/>
          <p:nvPr/>
        </p:nvSpPr>
        <p:spPr>
          <a:xfrm>
            <a:off x="4617720" y="3931920"/>
            <a:ext cx="2880360" cy="1005840"/>
          </a:xfrm>
          <a:prstGeom prst="rect">
            <a:avLst/>
          </a:prstGeom>
          <a:noFill/>
          <a:ln/>
        </p:spPr>
        <p:txBody>
          <a:bodyPr wrap="square" lIns="0" tIns="0" rIns="0" bIns="0" rtlCol="0" anchor="t"/>
          <a:lstStyle/>
          <a:p>
            <a:pPr algn="ctr" indent="0" marL="0">
              <a:buNone/>
            </a:pPr>
            <a:r>
              <a:rPr lang="en-US" sz="1700" dirty="0">
                <a:solidFill>
                  <a:srgbClr val="1E2624"/>
                </a:solidFill>
                <a:latin typeface="DM Sans" pitchFamily="34" charset="0"/>
                <a:ea typeface="DM Sans" pitchFamily="34" charset="-122"/>
                <a:cs typeface="DM Sans" pitchFamily="34" charset="-120"/>
              </a:rPr>
              <a:t>kids under 5 living in Alma</a:t>
            </a:r>
            <a:endParaRPr lang="en-US" sz="1700" dirty="0"/>
          </a:p>
        </p:txBody>
      </p:sp>
      <p:sp>
        <p:nvSpPr>
          <p:cNvPr id="13" name="Shape 10"/>
          <p:cNvSpPr/>
          <p:nvPr/>
        </p:nvSpPr>
        <p:spPr>
          <a:xfrm>
            <a:off x="8046720" y="2377440"/>
            <a:ext cx="3520440" cy="2743200"/>
          </a:xfrm>
          <a:prstGeom prst="roundRect">
            <a:avLst>
              <a:gd name="adj" fmla="val 6000"/>
            </a:avLst>
          </a:prstGeom>
          <a:solidFill>
            <a:srgbClr val="FFFFFF"/>
          </a:solidFill>
          <a:ln w="12700">
            <a:solidFill>
              <a:srgbClr val="E8E2D3"/>
            </a:solidFill>
            <a:prstDash val="solid"/>
          </a:ln>
        </p:spPr>
      </p:sp>
      <p:sp>
        <p:nvSpPr>
          <p:cNvPr id="14" name="Text 11"/>
          <p:cNvSpPr/>
          <p:nvPr/>
        </p:nvSpPr>
        <p:spPr>
          <a:xfrm>
            <a:off x="8046720" y="2606040"/>
            <a:ext cx="3520440" cy="1298448"/>
          </a:xfrm>
          <a:prstGeom prst="rect">
            <a:avLst/>
          </a:prstGeom>
          <a:noFill/>
          <a:ln/>
        </p:spPr>
        <p:txBody>
          <a:bodyPr wrap="square" lIns="0" tIns="0" rIns="0" bIns="0" rtlCol="0" anchor="ctr"/>
          <a:lstStyle/>
          <a:p>
            <a:pPr algn="ctr" indent="0" marL="0">
              <a:buNone/>
            </a:pPr>
            <a:r>
              <a:rPr lang="en-US" sz="6600" dirty="0">
                <a:solidFill>
                  <a:srgbClr val="2E8A80"/>
                </a:solidFill>
                <a:latin typeface="DM Serif Text" pitchFamily="34" charset="0"/>
                <a:ea typeface="DM Serif Text" pitchFamily="34" charset="-122"/>
                <a:cs typeface="DM Serif Text" pitchFamily="34" charset="-120"/>
              </a:rPr>
              <a:t>$200+</a:t>
            </a:r>
            <a:endParaRPr lang="en-US" sz="6600" dirty="0"/>
          </a:p>
        </p:txBody>
      </p:sp>
      <p:sp>
        <p:nvSpPr>
          <p:cNvPr id="15" name="Text 12"/>
          <p:cNvSpPr/>
          <p:nvPr/>
        </p:nvSpPr>
        <p:spPr>
          <a:xfrm>
            <a:off x="8366760" y="3931920"/>
            <a:ext cx="2880360" cy="1005840"/>
          </a:xfrm>
          <a:prstGeom prst="rect">
            <a:avLst/>
          </a:prstGeom>
          <a:noFill/>
          <a:ln/>
        </p:spPr>
        <p:txBody>
          <a:bodyPr wrap="square" lIns="0" tIns="0" rIns="0" bIns="0" rtlCol="0" anchor="t"/>
          <a:lstStyle/>
          <a:p>
            <a:pPr algn="ctr" indent="0" marL="0">
              <a:buNone/>
            </a:pPr>
            <a:r>
              <a:rPr lang="en-US" sz="1700" dirty="0">
                <a:solidFill>
                  <a:srgbClr val="1E2624"/>
                </a:solidFill>
                <a:latin typeface="DM Sans" pitchFamily="34" charset="0"/>
                <a:ea typeface="DM Sans" pitchFamily="34" charset="-122"/>
                <a:cs typeface="DM Sans" pitchFamily="34" charset="-120"/>
              </a:rPr>
              <a:t>a month for the nearest programs, which require 2 days</a:t>
            </a:r>
            <a:endParaRPr lang="en-US" sz="1700" dirty="0"/>
          </a:p>
        </p:txBody>
      </p:sp>
      <p:sp>
        <p:nvSpPr>
          <p:cNvPr id="16" name="Text 13"/>
          <p:cNvSpPr/>
          <p:nvPr/>
        </p:nvSpPr>
        <p:spPr>
          <a:xfrm>
            <a:off x="548640" y="5440680"/>
            <a:ext cx="11064240" cy="457200"/>
          </a:xfrm>
          <a:prstGeom prst="rect">
            <a:avLst/>
          </a:prstGeom>
          <a:noFill/>
          <a:ln/>
        </p:spPr>
        <p:txBody>
          <a:bodyPr wrap="square" lIns="0" tIns="0" rIns="0" bIns="0" rtlCol="0" anchor="ctr"/>
          <a:lstStyle/>
          <a:p>
            <a:pPr indent="0" marL="0">
              <a:buNone/>
            </a:pPr>
            <a:r>
              <a:rPr lang="en-US" sz="1800" b="1" dirty="0">
                <a:solidFill>
                  <a:srgbClr val="2E8A80"/>
                </a:solidFill>
                <a:latin typeface="DM Sans" pitchFamily="34" charset="0"/>
                <a:ea typeface="DM Sans" pitchFamily="34" charset="-122"/>
                <a:cs typeface="DM Sans" pitchFamily="34" charset="-120"/>
              </a:rPr>
              <a:t>Open to every family in Alma, members or not.</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2D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04</a:t>
            </a:r>
            <a:endParaRPr lang="en-US" sz="1000" dirty="0"/>
          </a:p>
        </p:txBody>
      </p:sp>
      <p:pic>
        <p:nvPicPr>
          <p:cNvPr id="5" name="Image 1" descr="/Users/cgillum1/Desktop/Personal/Kids Day Out/Deck/assets/s4-ourday.jpg">    </p:cNvPr>
          <p:cNvPicPr>
            <a:picLocks noChangeAspect="1"/>
          </p:cNvPicPr>
          <p:nvPr/>
        </p:nvPicPr>
        <p:blipFill>
          <a:blip r:embed="rId2"/>
          <a:stretch>
            <a:fillRect/>
          </a:stretch>
        </p:blipFill>
        <p:spPr>
          <a:xfrm>
            <a:off x="685800" y="1188720"/>
            <a:ext cx="3246120" cy="4864608"/>
          </a:xfrm>
          <a:prstGeom prst="rect">
            <a:avLst/>
          </a:prstGeom>
        </p:spPr>
      </p:pic>
      <p:sp>
        <p:nvSpPr>
          <p:cNvPr id="6" name="Text 2"/>
          <p:cNvSpPr/>
          <p:nvPr/>
        </p:nvSpPr>
        <p:spPr>
          <a:xfrm>
            <a:off x="4572000" y="1737360"/>
            <a:ext cx="704088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A THURSDAY AT KDO</a:t>
            </a:r>
            <a:endParaRPr lang="en-US" sz="1400" dirty="0"/>
          </a:p>
        </p:txBody>
      </p:sp>
      <p:sp>
        <p:nvSpPr>
          <p:cNvPr id="7" name="Text 3"/>
          <p:cNvSpPr/>
          <p:nvPr/>
        </p:nvSpPr>
        <p:spPr>
          <a:xfrm>
            <a:off x="4572000" y="2084832"/>
            <a:ext cx="704088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Drop off 9:00. Pick up 2:00.</a:t>
            </a:r>
            <a:endParaRPr lang="en-US" sz="4000" dirty="0"/>
          </a:p>
        </p:txBody>
      </p:sp>
      <p:sp>
        <p:nvSpPr>
          <p:cNvPr id="8" name="Shape 4"/>
          <p:cNvSpPr/>
          <p:nvPr/>
        </p:nvSpPr>
        <p:spPr>
          <a:xfrm>
            <a:off x="4572000" y="3291840"/>
            <a:ext cx="1600200" cy="548640"/>
          </a:xfrm>
          <a:prstGeom prst="roundRect">
            <a:avLst>
              <a:gd name="adj" fmla="val 50000"/>
            </a:avLst>
          </a:prstGeom>
          <a:solidFill>
            <a:srgbClr val="FFFFFF"/>
          </a:solidFill>
          <a:ln w="12700">
            <a:solidFill>
              <a:srgbClr val="FFFFFF"/>
            </a:solidFill>
            <a:prstDash val="solid"/>
          </a:ln>
        </p:spPr>
      </p:sp>
      <p:sp>
        <p:nvSpPr>
          <p:cNvPr id="9" name="Text 5"/>
          <p:cNvSpPr/>
          <p:nvPr/>
        </p:nvSpPr>
        <p:spPr>
          <a:xfrm>
            <a:off x="4572000" y="329184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Circle time</a:t>
            </a:r>
            <a:endParaRPr lang="en-US" sz="1400" dirty="0"/>
          </a:p>
        </p:txBody>
      </p:sp>
      <p:sp>
        <p:nvSpPr>
          <p:cNvPr id="10" name="Shape 6"/>
          <p:cNvSpPr/>
          <p:nvPr/>
        </p:nvSpPr>
        <p:spPr>
          <a:xfrm>
            <a:off x="6309360" y="3291840"/>
            <a:ext cx="1600200" cy="548640"/>
          </a:xfrm>
          <a:prstGeom prst="roundRect">
            <a:avLst>
              <a:gd name="adj" fmla="val 50000"/>
            </a:avLst>
          </a:prstGeom>
          <a:solidFill>
            <a:srgbClr val="FFFFFF"/>
          </a:solidFill>
          <a:ln w="12700">
            <a:solidFill>
              <a:srgbClr val="FFFFFF"/>
            </a:solidFill>
            <a:prstDash val="solid"/>
          </a:ln>
        </p:spPr>
      </p:sp>
      <p:sp>
        <p:nvSpPr>
          <p:cNvPr id="11" name="Text 7"/>
          <p:cNvSpPr/>
          <p:nvPr/>
        </p:nvSpPr>
        <p:spPr>
          <a:xfrm>
            <a:off x="6309360" y="329184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Stations</a:t>
            </a:r>
            <a:endParaRPr lang="en-US" sz="1400" dirty="0"/>
          </a:p>
        </p:txBody>
      </p:sp>
      <p:sp>
        <p:nvSpPr>
          <p:cNvPr id="12" name="Shape 8"/>
          <p:cNvSpPr/>
          <p:nvPr/>
        </p:nvSpPr>
        <p:spPr>
          <a:xfrm>
            <a:off x="8046720" y="3291840"/>
            <a:ext cx="1600200" cy="548640"/>
          </a:xfrm>
          <a:prstGeom prst="roundRect">
            <a:avLst>
              <a:gd name="adj" fmla="val 50000"/>
            </a:avLst>
          </a:prstGeom>
          <a:solidFill>
            <a:srgbClr val="FFFFFF"/>
          </a:solidFill>
          <a:ln w="12700">
            <a:solidFill>
              <a:srgbClr val="FFFFFF"/>
            </a:solidFill>
            <a:prstDash val="solid"/>
          </a:ln>
        </p:spPr>
      </p:sp>
      <p:sp>
        <p:nvSpPr>
          <p:cNvPr id="13" name="Text 9"/>
          <p:cNvSpPr/>
          <p:nvPr/>
        </p:nvSpPr>
        <p:spPr>
          <a:xfrm>
            <a:off x="8046720" y="329184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Recess</a:t>
            </a:r>
            <a:endParaRPr lang="en-US" sz="1400" dirty="0"/>
          </a:p>
        </p:txBody>
      </p:sp>
      <p:sp>
        <p:nvSpPr>
          <p:cNvPr id="14" name="Shape 10"/>
          <p:cNvSpPr/>
          <p:nvPr/>
        </p:nvSpPr>
        <p:spPr>
          <a:xfrm>
            <a:off x="9784080" y="3291840"/>
            <a:ext cx="1600200" cy="548640"/>
          </a:xfrm>
          <a:prstGeom prst="roundRect">
            <a:avLst>
              <a:gd name="adj" fmla="val 50000"/>
            </a:avLst>
          </a:prstGeom>
          <a:solidFill>
            <a:srgbClr val="FFFFFF"/>
          </a:solidFill>
          <a:ln w="12700">
            <a:solidFill>
              <a:srgbClr val="FFFFFF"/>
            </a:solidFill>
            <a:prstDash val="solid"/>
          </a:ln>
        </p:spPr>
      </p:sp>
      <p:sp>
        <p:nvSpPr>
          <p:cNvPr id="15" name="Text 11"/>
          <p:cNvSpPr/>
          <p:nvPr/>
        </p:nvSpPr>
        <p:spPr>
          <a:xfrm>
            <a:off x="9784080" y="329184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Music</a:t>
            </a:r>
            <a:endParaRPr lang="en-US" sz="1400" dirty="0"/>
          </a:p>
        </p:txBody>
      </p:sp>
      <p:sp>
        <p:nvSpPr>
          <p:cNvPr id="16" name="Shape 12"/>
          <p:cNvSpPr/>
          <p:nvPr/>
        </p:nvSpPr>
        <p:spPr>
          <a:xfrm>
            <a:off x="4572000" y="4023360"/>
            <a:ext cx="1600200" cy="548640"/>
          </a:xfrm>
          <a:prstGeom prst="roundRect">
            <a:avLst>
              <a:gd name="adj" fmla="val 50000"/>
            </a:avLst>
          </a:prstGeom>
          <a:solidFill>
            <a:srgbClr val="FFFFFF"/>
          </a:solidFill>
          <a:ln w="12700">
            <a:solidFill>
              <a:srgbClr val="FFFFFF"/>
            </a:solidFill>
            <a:prstDash val="solid"/>
          </a:ln>
        </p:spPr>
      </p:sp>
      <p:sp>
        <p:nvSpPr>
          <p:cNvPr id="17" name="Text 13"/>
          <p:cNvSpPr/>
          <p:nvPr/>
        </p:nvSpPr>
        <p:spPr>
          <a:xfrm>
            <a:off x="4572000" y="402336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Lunch</a:t>
            </a:r>
            <a:endParaRPr lang="en-US" sz="1400" dirty="0"/>
          </a:p>
        </p:txBody>
      </p:sp>
      <p:sp>
        <p:nvSpPr>
          <p:cNvPr id="18" name="Shape 14"/>
          <p:cNvSpPr/>
          <p:nvPr/>
        </p:nvSpPr>
        <p:spPr>
          <a:xfrm>
            <a:off x="6309360" y="4023360"/>
            <a:ext cx="1600200" cy="548640"/>
          </a:xfrm>
          <a:prstGeom prst="roundRect">
            <a:avLst>
              <a:gd name="adj" fmla="val 50000"/>
            </a:avLst>
          </a:prstGeom>
          <a:solidFill>
            <a:srgbClr val="FFFFFF"/>
          </a:solidFill>
          <a:ln w="12700">
            <a:solidFill>
              <a:srgbClr val="FFFFFF"/>
            </a:solidFill>
            <a:prstDash val="solid"/>
          </a:ln>
        </p:spPr>
      </p:sp>
      <p:sp>
        <p:nvSpPr>
          <p:cNvPr id="19" name="Text 15"/>
          <p:cNvSpPr/>
          <p:nvPr/>
        </p:nvSpPr>
        <p:spPr>
          <a:xfrm>
            <a:off x="6309360" y="402336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Nap</a:t>
            </a:r>
            <a:endParaRPr lang="en-US" sz="1400" dirty="0"/>
          </a:p>
        </p:txBody>
      </p:sp>
      <p:sp>
        <p:nvSpPr>
          <p:cNvPr id="20" name="Shape 16"/>
          <p:cNvSpPr/>
          <p:nvPr/>
        </p:nvSpPr>
        <p:spPr>
          <a:xfrm>
            <a:off x="8046720" y="4023360"/>
            <a:ext cx="1600200" cy="548640"/>
          </a:xfrm>
          <a:prstGeom prst="roundRect">
            <a:avLst>
              <a:gd name="adj" fmla="val 50000"/>
            </a:avLst>
          </a:prstGeom>
          <a:solidFill>
            <a:srgbClr val="FFFFFF"/>
          </a:solidFill>
          <a:ln w="12700">
            <a:solidFill>
              <a:srgbClr val="FFFFFF"/>
            </a:solidFill>
            <a:prstDash val="solid"/>
          </a:ln>
        </p:spPr>
      </p:sp>
      <p:sp>
        <p:nvSpPr>
          <p:cNvPr id="21" name="Text 17"/>
          <p:cNvSpPr/>
          <p:nvPr/>
        </p:nvSpPr>
        <p:spPr>
          <a:xfrm>
            <a:off x="8046720" y="402336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Bible story</a:t>
            </a:r>
            <a:endParaRPr lang="en-US" sz="1400" dirty="0"/>
          </a:p>
        </p:txBody>
      </p:sp>
      <p:sp>
        <p:nvSpPr>
          <p:cNvPr id="22" name="Shape 18"/>
          <p:cNvSpPr/>
          <p:nvPr/>
        </p:nvSpPr>
        <p:spPr>
          <a:xfrm>
            <a:off x="9784080" y="4023360"/>
            <a:ext cx="1600200" cy="548640"/>
          </a:xfrm>
          <a:prstGeom prst="roundRect">
            <a:avLst>
              <a:gd name="adj" fmla="val 50000"/>
            </a:avLst>
          </a:prstGeom>
          <a:solidFill>
            <a:srgbClr val="FFFFFF"/>
          </a:solidFill>
          <a:ln w="12700">
            <a:solidFill>
              <a:srgbClr val="FFFFFF"/>
            </a:solidFill>
            <a:prstDash val="solid"/>
          </a:ln>
        </p:spPr>
      </p:sp>
      <p:sp>
        <p:nvSpPr>
          <p:cNvPr id="23" name="Text 19"/>
          <p:cNvSpPr/>
          <p:nvPr/>
        </p:nvSpPr>
        <p:spPr>
          <a:xfrm>
            <a:off x="9784080" y="4023360"/>
            <a:ext cx="1600200" cy="548640"/>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Memory verse</a:t>
            </a:r>
            <a:endParaRPr lang="en-US" sz="1400" dirty="0"/>
          </a:p>
        </p:txBody>
      </p:sp>
      <p:sp>
        <p:nvSpPr>
          <p:cNvPr id="24" name="Text 20"/>
          <p:cNvSpPr/>
          <p:nvPr/>
        </p:nvSpPr>
        <p:spPr>
          <a:xfrm>
            <a:off x="4572000" y="4983480"/>
            <a:ext cx="6949440" cy="457200"/>
          </a:xfrm>
          <a:prstGeom prst="rect">
            <a:avLst/>
          </a:prstGeom>
          <a:noFill/>
          <a:ln/>
        </p:spPr>
        <p:txBody>
          <a:bodyPr wrap="square" lIns="0" tIns="0" rIns="0" bIns="0" rtlCol="0" anchor="ctr"/>
          <a:lstStyle/>
          <a:p>
            <a:pPr indent="0" marL="0">
              <a:buNone/>
            </a:pPr>
            <a:r>
              <a:rPr lang="en-US" sz="1800" dirty="0">
                <a:solidFill>
                  <a:srgbClr val="1E2624"/>
                </a:solidFill>
                <a:latin typeface="DM Sans" pitchFamily="34" charset="0"/>
                <a:ea typeface="DM Sans" pitchFamily="34" charset="-122"/>
                <a:cs typeface="DM Sans" pitchFamily="34" charset="-120"/>
              </a:rPr>
              <a:t>A Bible story every week and a memory verse every month.</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624"/>
        </a:solidFill>
      </p:bgPr>
    </p:bg>
    <p:spTree>
      <p:nvGrpSpPr>
        <p:cNvPr id="1" name=""/>
        <p:cNvGrpSpPr/>
        <p:nvPr/>
      </p:nvGrpSpPr>
      <p:grpSpPr>
        <a:xfrm>
          <a:off x="0" y="0"/>
          <a:ext cx="0" cy="0"/>
          <a:chOff x="0" y="0"/>
          <a:chExt cx="0" cy="0"/>
        </a:xfrm>
      </p:grpSpPr>
      <p:pic>
        <p:nvPicPr>
          <p:cNvPr id="2" name="Image 0" descr="/Users/cgillum1/Desktop/Personal/Kids Day Out/Deck/assets/kdo-mark-white.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B8C4C1"/>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B8C4C1"/>
                </a:solidFill>
                <a:latin typeface="DM Sans" pitchFamily="34" charset="0"/>
                <a:ea typeface="DM Sans" pitchFamily="34" charset="-122"/>
                <a:cs typeface="DM Sans" pitchFamily="34" charset="-120"/>
              </a:rPr>
              <a:t>05</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8FD6CE"/>
                </a:solidFill>
                <a:latin typeface="DM Sans" pitchFamily="34" charset="0"/>
                <a:ea typeface="DM Sans" pitchFamily="34" charset="-122"/>
                <a:cs typeface="DM Sans" pitchFamily="34" charset="-120"/>
              </a:rPr>
              <a:t>SAFETY</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FFFFFF"/>
                </a:solidFill>
                <a:latin typeface="DM Serif Text" pitchFamily="34" charset="0"/>
                <a:ea typeface="DM Serif Text" pitchFamily="34" charset="-122"/>
                <a:cs typeface="DM Serif Text" pitchFamily="34" charset="-120"/>
              </a:rPr>
              <a:t>Safety and supervision</a:t>
            </a:r>
            <a:endParaRPr lang="en-US" sz="4000" dirty="0"/>
          </a:p>
        </p:txBody>
      </p:sp>
      <p:sp>
        <p:nvSpPr>
          <p:cNvPr id="7" name="Shape 4"/>
          <p:cNvSpPr/>
          <p:nvPr/>
        </p:nvSpPr>
        <p:spPr>
          <a:xfrm>
            <a:off x="548640" y="2377440"/>
            <a:ext cx="3520440" cy="1005840"/>
          </a:xfrm>
          <a:prstGeom prst="roundRect">
            <a:avLst>
              <a:gd name="adj" fmla="val 14545"/>
            </a:avLst>
          </a:prstGeom>
          <a:solidFill>
            <a:srgbClr val="2A3330"/>
          </a:solidFill>
          <a:ln w="12700">
            <a:solidFill>
              <a:srgbClr val="3A4441"/>
            </a:solidFill>
            <a:prstDash val="solid"/>
          </a:ln>
        </p:spPr>
      </p:sp>
      <p:sp>
        <p:nvSpPr>
          <p:cNvPr id="8" name="Text 5"/>
          <p:cNvSpPr/>
          <p:nvPr/>
        </p:nvSpPr>
        <p:spPr>
          <a:xfrm>
            <a:off x="822960" y="2377440"/>
            <a:ext cx="2971800" cy="1005840"/>
          </a:xfrm>
          <a:prstGeom prst="rect">
            <a:avLst/>
          </a:prstGeom>
          <a:noFill/>
          <a:ln/>
        </p:spPr>
        <p:txBody>
          <a:bodyPr wrap="square" lIns="0" tIns="0" rIns="0" bIns="0" rtlCol="0" anchor="ctr"/>
          <a:lstStyle/>
          <a:p>
            <a:pPr indent="0" marL="0">
              <a:buNone/>
            </a:pPr>
            <a:r>
              <a:rPr lang="en-US" sz="2000" dirty="0">
                <a:solidFill>
                  <a:srgbClr val="FFFFFF"/>
                </a:solidFill>
                <a:latin typeface="DM Serif Text" pitchFamily="34" charset="0"/>
                <a:ea typeface="DM Serif Text" pitchFamily="34" charset="-122"/>
                <a:cs typeface="DM Serif Text" pitchFamily="34" charset="-120"/>
              </a:rPr>
              <a:t>2 adults in every room</a:t>
            </a:r>
            <a:endParaRPr lang="en-US" sz="2000" dirty="0"/>
          </a:p>
        </p:txBody>
      </p:sp>
      <p:sp>
        <p:nvSpPr>
          <p:cNvPr id="9" name="Shape 6"/>
          <p:cNvSpPr/>
          <p:nvPr/>
        </p:nvSpPr>
        <p:spPr>
          <a:xfrm>
            <a:off x="4297680" y="2377440"/>
            <a:ext cx="3520440" cy="1005840"/>
          </a:xfrm>
          <a:prstGeom prst="roundRect">
            <a:avLst>
              <a:gd name="adj" fmla="val 14545"/>
            </a:avLst>
          </a:prstGeom>
          <a:solidFill>
            <a:srgbClr val="2A3330"/>
          </a:solidFill>
          <a:ln w="12700">
            <a:solidFill>
              <a:srgbClr val="3A4441"/>
            </a:solidFill>
            <a:prstDash val="solid"/>
          </a:ln>
        </p:spPr>
      </p:sp>
      <p:sp>
        <p:nvSpPr>
          <p:cNvPr id="10" name="Text 7"/>
          <p:cNvSpPr/>
          <p:nvPr/>
        </p:nvSpPr>
        <p:spPr>
          <a:xfrm>
            <a:off x="4572000" y="2377440"/>
            <a:ext cx="2971800" cy="1005840"/>
          </a:xfrm>
          <a:prstGeom prst="rect">
            <a:avLst/>
          </a:prstGeom>
          <a:noFill/>
          <a:ln/>
        </p:spPr>
        <p:txBody>
          <a:bodyPr wrap="square" lIns="0" tIns="0" rIns="0" bIns="0" rtlCol="0" anchor="ctr"/>
          <a:lstStyle/>
          <a:p>
            <a:pPr indent="0" marL="0">
              <a:buNone/>
            </a:pPr>
            <a:r>
              <a:rPr lang="en-US" sz="2000" dirty="0">
                <a:solidFill>
                  <a:srgbClr val="FFFFFF"/>
                </a:solidFill>
                <a:latin typeface="DM Serif Text" pitchFamily="34" charset="0"/>
                <a:ea typeface="DM Serif Text" pitchFamily="34" charset="-122"/>
                <a:cs typeface="DM Serif Text" pitchFamily="34" charset="-120"/>
              </a:rPr>
              <a:t>Locked doors, tagged pickup</a:t>
            </a:r>
            <a:endParaRPr lang="en-US" sz="2000" dirty="0"/>
          </a:p>
        </p:txBody>
      </p:sp>
      <p:sp>
        <p:nvSpPr>
          <p:cNvPr id="11" name="Shape 8"/>
          <p:cNvSpPr/>
          <p:nvPr/>
        </p:nvSpPr>
        <p:spPr>
          <a:xfrm>
            <a:off x="8046720" y="2377440"/>
            <a:ext cx="3520440" cy="1005840"/>
          </a:xfrm>
          <a:prstGeom prst="roundRect">
            <a:avLst>
              <a:gd name="adj" fmla="val 14545"/>
            </a:avLst>
          </a:prstGeom>
          <a:solidFill>
            <a:srgbClr val="2A3330"/>
          </a:solidFill>
          <a:ln w="12700">
            <a:solidFill>
              <a:srgbClr val="3A4441"/>
            </a:solidFill>
            <a:prstDash val="solid"/>
          </a:ln>
        </p:spPr>
      </p:sp>
      <p:sp>
        <p:nvSpPr>
          <p:cNvPr id="12" name="Text 9"/>
          <p:cNvSpPr/>
          <p:nvPr/>
        </p:nvSpPr>
        <p:spPr>
          <a:xfrm>
            <a:off x="8321040" y="2377440"/>
            <a:ext cx="2971800" cy="1005840"/>
          </a:xfrm>
          <a:prstGeom prst="rect">
            <a:avLst/>
          </a:prstGeom>
          <a:noFill/>
          <a:ln/>
        </p:spPr>
        <p:txBody>
          <a:bodyPr wrap="square" lIns="0" tIns="0" rIns="0" bIns="0" rtlCol="0" anchor="ctr"/>
          <a:lstStyle/>
          <a:p>
            <a:pPr indent="0" marL="0">
              <a:buNone/>
            </a:pPr>
            <a:r>
              <a:rPr lang="en-US" sz="2000" dirty="0">
                <a:solidFill>
                  <a:srgbClr val="FFFFFF"/>
                </a:solidFill>
                <a:latin typeface="DM Serif Text" pitchFamily="34" charset="0"/>
                <a:ea typeface="DM Serif Text" pitchFamily="34" charset="-122"/>
                <a:cs typeface="DM Serif Text" pitchFamily="34" charset="-120"/>
              </a:rPr>
              <a:t>Background checks</a:t>
            </a:r>
            <a:endParaRPr lang="en-US" sz="2000" dirty="0"/>
          </a:p>
        </p:txBody>
      </p:sp>
      <p:sp>
        <p:nvSpPr>
          <p:cNvPr id="13" name="Shape 10"/>
          <p:cNvSpPr/>
          <p:nvPr/>
        </p:nvSpPr>
        <p:spPr>
          <a:xfrm>
            <a:off x="548640" y="3566160"/>
            <a:ext cx="3520440" cy="1005840"/>
          </a:xfrm>
          <a:prstGeom prst="roundRect">
            <a:avLst>
              <a:gd name="adj" fmla="val 14545"/>
            </a:avLst>
          </a:prstGeom>
          <a:solidFill>
            <a:srgbClr val="2A3330"/>
          </a:solidFill>
          <a:ln w="12700">
            <a:solidFill>
              <a:srgbClr val="3A4441"/>
            </a:solidFill>
            <a:prstDash val="solid"/>
          </a:ln>
        </p:spPr>
      </p:sp>
      <p:sp>
        <p:nvSpPr>
          <p:cNvPr id="14" name="Text 11"/>
          <p:cNvSpPr/>
          <p:nvPr/>
        </p:nvSpPr>
        <p:spPr>
          <a:xfrm>
            <a:off x="822960" y="3566160"/>
            <a:ext cx="2971800" cy="1005840"/>
          </a:xfrm>
          <a:prstGeom prst="rect">
            <a:avLst/>
          </a:prstGeom>
          <a:noFill/>
          <a:ln/>
        </p:spPr>
        <p:txBody>
          <a:bodyPr wrap="square" lIns="0" tIns="0" rIns="0" bIns="0" rtlCol="0" anchor="ctr"/>
          <a:lstStyle/>
          <a:p>
            <a:pPr indent="0" marL="0">
              <a:buNone/>
            </a:pPr>
            <a:r>
              <a:rPr lang="en-US" sz="2000" dirty="0">
                <a:solidFill>
                  <a:srgbClr val="FFFFFF"/>
                </a:solidFill>
                <a:latin typeface="DM Serif Text" pitchFamily="34" charset="0"/>
                <a:ea typeface="DM Serif Text" pitchFamily="34" charset="-122"/>
                <a:cs typeface="DM Serif Text" pitchFamily="34" charset="-120"/>
              </a:rPr>
              <a:t>CPR and first aid</a:t>
            </a:r>
            <a:endParaRPr lang="en-US" sz="2000" dirty="0"/>
          </a:p>
        </p:txBody>
      </p:sp>
      <p:sp>
        <p:nvSpPr>
          <p:cNvPr id="15" name="Shape 12"/>
          <p:cNvSpPr/>
          <p:nvPr/>
        </p:nvSpPr>
        <p:spPr>
          <a:xfrm>
            <a:off x="4297680" y="3566160"/>
            <a:ext cx="3520440" cy="1005840"/>
          </a:xfrm>
          <a:prstGeom prst="roundRect">
            <a:avLst>
              <a:gd name="adj" fmla="val 14545"/>
            </a:avLst>
          </a:prstGeom>
          <a:solidFill>
            <a:srgbClr val="2A3330"/>
          </a:solidFill>
          <a:ln w="12700">
            <a:solidFill>
              <a:srgbClr val="3A4441"/>
            </a:solidFill>
            <a:prstDash val="solid"/>
          </a:ln>
        </p:spPr>
      </p:sp>
      <p:sp>
        <p:nvSpPr>
          <p:cNvPr id="16" name="Text 13"/>
          <p:cNvSpPr/>
          <p:nvPr/>
        </p:nvSpPr>
        <p:spPr>
          <a:xfrm>
            <a:off x="4572000" y="3566160"/>
            <a:ext cx="2971800" cy="1005840"/>
          </a:xfrm>
          <a:prstGeom prst="rect">
            <a:avLst/>
          </a:prstGeom>
          <a:noFill/>
          <a:ln/>
        </p:spPr>
        <p:txBody>
          <a:bodyPr wrap="square" lIns="0" tIns="0" rIns="0" bIns="0" rtlCol="0" anchor="ctr"/>
          <a:lstStyle/>
          <a:p>
            <a:pPr indent="0" marL="0">
              <a:buNone/>
            </a:pPr>
            <a:r>
              <a:rPr lang="en-US" sz="2000" dirty="0">
                <a:solidFill>
                  <a:srgbClr val="FFFFFF"/>
                </a:solidFill>
                <a:latin typeface="DM Serif Text" pitchFamily="34" charset="0"/>
                <a:ea typeface="DM Serif Text" pitchFamily="34" charset="-122"/>
                <a:cs typeface="DM Serif Text" pitchFamily="34" charset="-120"/>
              </a:rPr>
              <a:t>Mandated reporter training</a:t>
            </a:r>
            <a:endParaRPr lang="en-US" sz="2000" dirty="0"/>
          </a:p>
        </p:txBody>
      </p:sp>
      <p:sp>
        <p:nvSpPr>
          <p:cNvPr id="17" name="Shape 14"/>
          <p:cNvSpPr/>
          <p:nvPr/>
        </p:nvSpPr>
        <p:spPr>
          <a:xfrm>
            <a:off x="8046720" y="3566160"/>
            <a:ext cx="3520440" cy="1005840"/>
          </a:xfrm>
          <a:prstGeom prst="roundRect">
            <a:avLst>
              <a:gd name="adj" fmla="val 14545"/>
            </a:avLst>
          </a:prstGeom>
          <a:solidFill>
            <a:srgbClr val="2A3330"/>
          </a:solidFill>
          <a:ln w="12700">
            <a:solidFill>
              <a:srgbClr val="3A4441"/>
            </a:solidFill>
            <a:prstDash val="solid"/>
          </a:ln>
        </p:spPr>
      </p:sp>
      <p:sp>
        <p:nvSpPr>
          <p:cNvPr id="18" name="Text 15"/>
          <p:cNvSpPr/>
          <p:nvPr/>
        </p:nvSpPr>
        <p:spPr>
          <a:xfrm>
            <a:off x="8321040" y="3566160"/>
            <a:ext cx="2971800" cy="1005840"/>
          </a:xfrm>
          <a:prstGeom prst="rect">
            <a:avLst/>
          </a:prstGeom>
          <a:noFill/>
          <a:ln/>
        </p:spPr>
        <p:txBody>
          <a:bodyPr wrap="square" lIns="0" tIns="0" rIns="0" bIns="0" rtlCol="0" anchor="ctr"/>
          <a:lstStyle/>
          <a:p>
            <a:pPr indent="0" marL="0">
              <a:buNone/>
            </a:pPr>
            <a:r>
              <a:rPr lang="en-US" sz="2000" dirty="0">
                <a:solidFill>
                  <a:srgbClr val="FFFFFF"/>
                </a:solidFill>
                <a:latin typeface="DM Serif Text" pitchFamily="34" charset="0"/>
                <a:ea typeface="DM Serif Text" pitchFamily="34" charset="-122"/>
                <a:cs typeface="DM Serif Text" pitchFamily="34" charset="-120"/>
              </a:rPr>
              <a:t>Parent updates in Homeroom</a:t>
            </a:r>
            <a:endParaRPr lang="en-US" sz="2000" dirty="0"/>
          </a:p>
        </p:txBody>
      </p:sp>
      <p:sp>
        <p:nvSpPr>
          <p:cNvPr id="19" name="Text 16"/>
          <p:cNvSpPr/>
          <p:nvPr/>
        </p:nvSpPr>
        <p:spPr>
          <a:xfrm>
            <a:off x="548640" y="4846320"/>
            <a:ext cx="11064240" cy="320040"/>
          </a:xfrm>
          <a:prstGeom prst="rect">
            <a:avLst/>
          </a:prstGeom>
          <a:noFill/>
          <a:ln/>
        </p:spPr>
        <p:txBody>
          <a:bodyPr wrap="square" lIns="0" tIns="0" rIns="0" bIns="0" rtlCol="0" anchor="ctr"/>
          <a:lstStyle/>
          <a:p>
            <a:pPr indent="0" marL="0">
              <a:buNone/>
            </a:pPr>
            <a:r>
              <a:rPr lang="en-US" sz="1200" b="1" spc="300" kern="0" dirty="0">
                <a:solidFill>
                  <a:srgbClr val="8FD6CE"/>
                </a:solidFill>
                <a:latin typeface="DM Sans" pitchFamily="34" charset="0"/>
                <a:ea typeface="DM Sans" pitchFamily="34" charset="-122"/>
                <a:cs typeface="DM Sans" pitchFamily="34" charset="-120"/>
              </a:rPr>
              <a:t>ROOMS BY AGE  |  UNDER 3 AND 3 AND UP ARE ALWAYS SEPARATE</a:t>
            </a:r>
            <a:endParaRPr lang="en-US" sz="1200" dirty="0"/>
          </a:p>
        </p:txBody>
      </p:sp>
      <p:sp>
        <p:nvSpPr>
          <p:cNvPr id="20" name="Text 17"/>
          <p:cNvSpPr/>
          <p:nvPr/>
        </p:nvSpPr>
        <p:spPr>
          <a:xfrm>
            <a:off x="548640" y="5212080"/>
            <a:ext cx="3520440" cy="365760"/>
          </a:xfrm>
          <a:prstGeom prst="rect">
            <a:avLst/>
          </a:prstGeom>
          <a:noFill/>
          <a:ln/>
        </p:spPr>
        <p:txBody>
          <a:bodyPr wrap="square" lIns="0" tIns="0" rIns="0" bIns="0" rtlCol="0" anchor="ctr"/>
          <a:lstStyle/>
          <a:p>
            <a:pPr indent="0" marL="0">
              <a:buNone/>
            </a:pPr>
            <a:r>
              <a:rPr lang="en-US" sz="1500" dirty="0">
                <a:solidFill>
                  <a:srgbClr val="C9D2CF"/>
                </a:solidFill>
                <a:latin typeface="DM Sans" pitchFamily="34" charset="0"/>
                <a:ea typeface="DM Sans" pitchFamily="34" charset="-122"/>
                <a:cs typeface="DM Sans" pitchFamily="34" charset="-120"/>
              </a:rPr>
              <a:t>Babies, 6 to 17 months</a:t>
            </a:r>
            <a:endParaRPr lang="en-US" sz="1500" dirty="0"/>
          </a:p>
        </p:txBody>
      </p:sp>
      <p:sp>
        <p:nvSpPr>
          <p:cNvPr id="21" name="Text 18"/>
          <p:cNvSpPr/>
          <p:nvPr/>
        </p:nvSpPr>
        <p:spPr>
          <a:xfrm>
            <a:off x="548640" y="5559552"/>
            <a:ext cx="3520440" cy="457200"/>
          </a:xfrm>
          <a:prstGeom prst="rect">
            <a:avLst/>
          </a:prstGeom>
          <a:noFill/>
          <a:ln/>
        </p:spPr>
        <p:txBody>
          <a:bodyPr wrap="square" lIns="0" tIns="0" rIns="0" bIns="0" rtlCol="0" anchor="ctr"/>
          <a:lstStyle/>
          <a:p>
            <a:pPr indent="0" marL="0">
              <a:buNone/>
            </a:pPr>
            <a:r>
              <a:rPr lang="en-US" sz="2000" b="1" dirty="0">
                <a:solidFill>
                  <a:srgbClr val="E4D0A1"/>
                </a:solidFill>
                <a:latin typeface="DM Sans" pitchFamily="34" charset="0"/>
                <a:ea typeface="DM Sans" pitchFamily="34" charset="-122"/>
                <a:cs typeface="DM Sans" pitchFamily="34" charset="-120"/>
              </a:rPr>
              <a:t>1 to 3</a:t>
            </a:r>
            <a:pPr indent="0" marL="0">
              <a:buNone/>
            </a:pPr>
            <a:r>
              <a:rPr lang="en-US" sz="1400" dirty="0">
                <a:solidFill>
                  <a:srgbClr val="9FB0AC"/>
                </a:solidFill>
                <a:latin typeface="DM Sans" pitchFamily="34" charset="0"/>
                <a:ea typeface="DM Sans" pitchFamily="34" charset="-122"/>
                <a:cs typeface="DM Sans" pitchFamily="34" charset="-120"/>
              </a:rPr>
              <a:t>   state 1 to 5</a:t>
            </a:r>
            <a:endParaRPr lang="en-US" sz="2000" dirty="0"/>
          </a:p>
        </p:txBody>
      </p:sp>
      <p:sp>
        <p:nvSpPr>
          <p:cNvPr id="22" name="Text 19"/>
          <p:cNvSpPr/>
          <p:nvPr/>
        </p:nvSpPr>
        <p:spPr>
          <a:xfrm>
            <a:off x="4297680" y="5212080"/>
            <a:ext cx="3520440" cy="365760"/>
          </a:xfrm>
          <a:prstGeom prst="rect">
            <a:avLst/>
          </a:prstGeom>
          <a:noFill/>
          <a:ln/>
        </p:spPr>
        <p:txBody>
          <a:bodyPr wrap="square" lIns="0" tIns="0" rIns="0" bIns="0" rtlCol="0" anchor="ctr"/>
          <a:lstStyle/>
          <a:p>
            <a:pPr indent="0" marL="0">
              <a:buNone/>
            </a:pPr>
            <a:r>
              <a:rPr lang="en-US" sz="1500" dirty="0">
                <a:solidFill>
                  <a:srgbClr val="C9D2CF"/>
                </a:solidFill>
                <a:latin typeface="DM Sans" pitchFamily="34" charset="0"/>
                <a:ea typeface="DM Sans" pitchFamily="34" charset="-122"/>
                <a:cs typeface="DM Sans" pitchFamily="34" charset="-120"/>
              </a:rPr>
              <a:t>Toddlers, 18 months to 3</a:t>
            </a:r>
            <a:endParaRPr lang="en-US" sz="1500" dirty="0"/>
          </a:p>
        </p:txBody>
      </p:sp>
      <p:sp>
        <p:nvSpPr>
          <p:cNvPr id="23" name="Text 20"/>
          <p:cNvSpPr/>
          <p:nvPr/>
        </p:nvSpPr>
        <p:spPr>
          <a:xfrm>
            <a:off x="4297680" y="5559552"/>
            <a:ext cx="3520440" cy="457200"/>
          </a:xfrm>
          <a:prstGeom prst="rect">
            <a:avLst/>
          </a:prstGeom>
          <a:noFill/>
          <a:ln/>
        </p:spPr>
        <p:txBody>
          <a:bodyPr wrap="square" lIns="0" tIns="0" rIns="0" bIns="0" rtlCol="0" anchor="ctr"/>
          <a:lstStyle/>
          <a:p>
            <a:pPr indent="0" marL="0">
              <a:buNone/>
            </a:pPr>
            <a:r>
              <a:rPr lang="en-US" sz="2000" b="1" dirty="0">
                <a:solidFill>
                  <a:srgbClr val="E4D0A1"/>
                </a:solidFill>
                <a:latin typeface="DM Sans" pitchFamily="34" charset="0"/>
                <a:ea typeface="DM Sans" pitchFamily="34" charset="-122"/>
                <a:cs typeface="DM Sans" pitchFamily="34" charset="-120"/>
              </a:rPr>
              <a:t>1 to 6</a:t>
            </a:r>
            <a:pPr indent="0" marL="0">
              <a:buNone/>
            </a:pPr>
            <a:r>
              <a:rPr lang="en-US" sz="1400" dirty="0">
                <a:solidFill>
                  <a:srgbClr val="9FB0AC"/>
                </a:solidFill>
                <a:latin typeface="DM Sans" pitchFamily="34" charset="0"/>
                <a:ea typeface="DM Sans" pitchFamily="34" charset="-122"/>
                <a:cs typeface="DM Sans" pitchFamily="34" charset="-120"/>
              </a:rPr>
              <a:t>   state 1 to 8</a:t>
            </a:r>
            <a:endParaRPr lang="en-US" sz="2000" dirty="0"/>
          </a:p>
        </p:txBody>
      </p:sp>
      <p:sp>
        <p:nvSpPr>
          <p:cNvPr id="24" name="Text 21"/>
          <p:cNvSpPr/>
          <p:nvPr/>
        </p:nvSpPr>
        <p:spPr>
          <a:xfrm>
            <a:off x="8046720" y="5212080"/>
            <a:ext cx="3520440" cy="365760"/>
          </a:xfrm>
          <a:prstGeom prst="rect">
            <a:avLst/>
          </a:prstGeom>
          <a:noFill/>
          <a:ln/>
        </p:spPr>
        <p:txBody>
          <a:bodyPr wrap="square" lIns="0" tIns="0" rIns="0" bIns="0" rtlCol="0" anchor="ctr"/>
          <a:lstStyle/>
          <a:p>
            <a:pPr indent="0" marL="0">
              <a:buNone/>
            </a:pPr>
            <a:r>
              <a:rPr lang="en-US" sz="1500" dirty="0">
                <a:solidFill>
                  <a:srgbClr val="C9D2CF"/>
                </a:solidFill>
                <a:latin typeface="DM Sans" pitchFamily="34" charset="0"/>
                <a:ea typeface="DM Sans" pitchFamily="34" charset="-122"/>
                <a:cs typeface="DM Sans" pitchFamily="34" charset="-120"/>
              </a:rPr>
              <a:t>Preschool, 3 and up</a:t>
            </a:r>
            <a:endParaRPr lang="en-US" sz="1500" dirty="0"/>
          </a:p>
        </p:txBody>
      </p:sp>
      <p:sp>
        <p:nvSpPr>
          <p:cNvPr id="25" name="Text 22"/>
          <p:cNvSpPr/>
          <p:nvPr/>
        </p:nvSpPr>
        <p:spPr>
          <a:xfrm>
            <a:off x="8046720" y="5559552"/>
            <a:ext cx="3520440" cy="457200"/>
          </a:xfrm>
          <a:prstGeom prst="rect">
            <a:avLst/>
          </a:prstGeom>
          <a:noFill/>
          <a:ln/>
        </p:spPr>
        <p:txBody>
          <a:bodyPr wrap="square" lIns="0" tIns="0" rIns="0" bIns="0" rtlCol="0" anchor="ctr"/>
          <a:lstStyle/>
          <a:p>
            <a:pPr indent="0" marL="0">
              <a:buNone/>
            </a:pPr>
            <a:r>
              <a:rPr lang="en-US" sz="2000" b="1" dirty="0">
                <a:solidFill>
                  <a:srgbClr val="E4D0A1"/>
                </a:solidFill>
                <a:latin typeface="DM Sans" pitchFamily="34" charset="0"/>
                <a:ea typeface="DM Sans" pitchFamily="34" charset="-122"/>
                <a:cs typeface="DM Sans" pitchFamily="34" charset="-120"/>
              </a:rPr>
              <a:t>1 to 6</a:t>
            </a:r>
            <a:pPr indent="0" marL="0">
              <a:buNone/>
            </a:pPr>
            <a:r>
              <a:rPr lang="en-US" sz="1400" dirty="0">
                <a:solidFill>
                  <a:srgbClr val="9FB0AC"/>
                </a:solidFill>
                <a:latin typeface="DM Sans" pitchFamily="34" charset="0"/>
                <a:ea typeface="DM Sans" pitchFamily="34" charset="-122"/>
                <a:cs typeface="DM Sans" pitchFamily="34" charset="-120"/>
              </a:rPr>
              <a:t>   state 1 to 12</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06</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STATE RULES AND BUILDING</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No license required</a:t>
            </a:r>
            <a:endParaRPr lang="en-US" sz="4000" dirty="0"/>
          </a:p>
        </p:txBody>
      </p:sp>
      <p:sp>
        <p:nvSpPr>
          <p:cNvPr id="7" name="Shape 4"/>
          <p:cNvSpPr/>
          <p:nvPr/>
        </p:nvSpPr>
        <p:spPr>
          <a:xfrm>
            <a:off x="548640" y="2377440"/>
            <a:ext cx="5120640" cy="3566160"/>
          </a:xfrm>
          <a:prstGeom prst="roundRect">
            <a:avLst>
              <a:gd name="adj" fmla="val 4615"/>
            </a:avLst>
          </a:prstGeom>
          <a:solidFill>
            <a:srgbClr val="1E2624"/>
          </a:solidFill>
          <a:ln w="12700">
            <a:solidFill>
              <a:srgbClr val="1E2624"/>
            </a:solidFill>
            <a:prstDash val="solid"/>
          </a:ln>
        </p:spPr>
      </p:sp>
      <p:sp>
        <p:nvSpPr>
          <p:cNvPr id="8" name="Text 5"/>
          <p:cNvSpPr/>
          <p:nvPr/>
        </p:nvSpPr>
        <p:spPr>
          <a:xfrm>
            <a:off x="868680" y="2606040"/>
            <a:ext cx="4572000" cy="1051560"/>
          </a:xfrm>
          <a:prstGeom prst="rect">
            <a:avLst/>
          </a:prstGeom>
          <a:noFill/>
          <a:ln/>
        </p:spPr>
        <p:txBody>
          <a:bodyPr wrap="square" lIns="0" tIns="0" rIns="0" bIns="0" rtlCol="0" anchor="ctr"/>
          <a:lstStyle/>
          <a:p>
            <a:pPr indent="0" marL="0">
              <a:buNone/>
            </a:pPr>
            <a:r>
              <a:rPr lang="en-US" sz="5400" dirty="0">
                <a:solidFill>
                  <a:srgbClr val="E4D0A1"/>
                </a:solidFill>
                <a:latin typeface="DM Serif Text" pitchFamily="34" charset="0"/>
                <a:ea typeface="DM Serif Text" pitchFamily="34" charset="-122"/>
                <a:cs typeface="DM Serif Text" pitchFamily="34" charset="-120"/>
              </a:rPr>
              <a:t>5 hours</a:t>
            </a:r>
            <a:endParaRPr lang="en-US" sz="5400" dirty="0"/>
          </a:p>
        </p:txBody>
      </p:sp>
      <p:sp>
        <p:nvSpPr>
          <p:cNvPr id="9" name="Text 6"/>
          <p:cNvSpPr/>
          <p:nvPr/>
        </p:nvSpPr>
        <p:spPr>
          <a:xfrm>
            <a:off x="868680" y="3611880"/>
            <a:ext cx="4480560" cy="1371600"/>
          </a:xfrm>
          <a:prstGeom prst="rect">
            <a:avLst/>
          </a:prstGeom>
          <a:noFill/>
          <a:ln/>
        </p:spPr>
        <p:txBody>
          <a:bodyPr wrap="square" lIns="0" tIns="0" rIns="0" bIns="0" rtlCol="0" anchor="t"/>
          <a:lstStyle/>
          <a:p>
            <a:pPr indent="0" marL="0">
              <a:buNone/>
            </a:pPr>
            <a:r>
              <a:rPr lang="en-US" sz="1700" dirty="0">
                <a:solidFill>
                  <a:srgbClr val="FFFFFF"/>
                </a:solidFill>
                <a:latin typeface="DM Sans" pitchFamily="34" charset="0"/>
                <a:ea typeface="DM Sans" pitchFamily="34" charset="-122"/>
                <a:cs typeface="DM Sans" pitchFamily="34" charset="-120"/>
              </a:rPr>
              <a:t>a week. Arkansas exempts part-time programs open 5 hours a day or less and 10 hours a week or less.</a:t>
            </a:r>
            <a:endParaRPr lang="en-US" sz="1700" dirty="0"/>
          </a:p>
        </p:txBody>
      </p:sp>
      <p:sp>
        <p:nvSpPr>
          <p:cNvPr id="10" name="Text 7"/>
          <p:cNvSpPr/>
          <p:nvPr/>
        </p:nvSpPr>
        <p:spPr>
          <a:xfrm>
            <a:off x="868680" y="5257800"/>
            <a:ext cx="4480560" cy="457200"/>
          </a:xfrm>
          <a:prstGeom prst="rect">
            <a:avLst/>
          </a:prstGeom>
          <a:noFill/>
          <a:ln/>
        </p:spPr>
        <p:txBody>
          <a:bodyPr wrap="square" lIns="0" tIns="0" rIns="0" bIns="0" rtlCol="0" anchor="t"/>
          <a:lstStyle/>
          <a:p>
            <a:pPr indent="0" marL="0">
              <a:buNone/>
            </a:pPr>
            <a:r>
              <a:rPr lang="en-US" sz="1100" dirty="0">
                <a:solidFill>
                  <a:srgbClr val="9FB0AC"/>
                </a:solidFill>
                <a:latin typeface="DM Sans" pitchFamily="34" charset="0"/>
                <a:ea typeface="DM Sans" pitchFamily="34" charset="-122"/>
                <a:cs typeface="DM Sans" pitchFamily="34" charset="-120"/>
              </a:rPr>
              <a:t>Minimum Licensing Requirements for Child Care Centers, Appendix A</a:t>
            </a:r>
            <a:endParaRPr lang="en-US" sz="1100" dirty="0"/>
          </a:p>
        </p:txBody>
      </p:sp>
      <p:sp>
        <p:nvSpPr>
          <p:cNvPr id="11" name="Shape 8"/>
          <p:cNvSpPr/>
          <p:nvPr/>
        </p:nvSpPr>
        <p:spPr>
          <a:xfrm>
            <a:off x="6126480" y="2496312"/>
            <a:ext cx="384048" cy="384048"/>
          </a:xfrm>
          <a:prstGeom prst="ellipse">
            <a:avLst/>
          </a:prstGeom>
          <a:solidFill>
            <a:srgbClr val="40ACA1"/>
          </a:solidFill>
          <a:ln w="12700">
            <a:solidFill>
              <a:srgbClr val="40ACA1"/>
            </a:solidFill>
            <a:prstDash val="solid"/>
          </a:ln>
        </p:spPr>
      </p:sp>
      <p:sp>
        <p:nvSpPr>
          <p:cNvPr id="12" name="Text 9"/>
          <p:cNvSpPr/>
          <p:nvPr/>
        </p:nvSpPr>
        <p:spPr>
          <a:xfrm>
            <a:off x="6126480" y="249631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DM Sans" pitchFamily="34" charset="0"/>
                <a:ea typeface="DM Sans" pitchFamily="34" charset="-122"/>
                <a:cs typeface="DM Sans" pitchFamily="34" charset="-120"/>
              </a:rPr>
              <a:t>✓</a:t>
            </a:r>
            <a:endParaRPr lang="en-US" sz="1500" dirty="0"/>
          </a:p>
        </p:txBody>
      </p:sp>
      <p:sp>
        <p:nvSpPr>
          <p:cNvPr id="13" name="Text 10"/>
          <p:cNvSpPr/>
          <p:nvPr/>
        </p:nvSpPr>
        <p:spPr>
          <a:xfrm>
            <a:off x="6675120" y="2423160"/>
            <a:ext cx="493776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Ground floor rooms</a:t>
            </a:r>
            <a:endParaRPr lang="en-US" sz="2200" dirty="0"/>
          </a:p>
        </p:txBody>
      </p:sp>
      <p:sp>
        <p:nvSpPr>
          <p:cNvPr id="14" name="Shape 11"/>
          <p:cNvSpPr/>
          <p:nvPr/>
        </p:nvSpPr>
        <p:spPr>
          <a:xfrm>
            <a:off x="6126480" y="3364992"/>
            <a:ext cx="384048" cy="384048"/>
          </a:xfrm>
          <a:prstGeom prst="ellipse">
            <a:avLst/>
          </a:prstGeom>
          <a:solidFill>
            <a:srgbClr val="40ACA1"/>
          </a:solidFill>
          <a:ln w="12700">
            <a:solidFill>
              <a:srgbClr val="40ACA1"/>
            </a:solidFill>
            <a:prstDash val="solid"/>
          </a:ln>
        </p:spPr>
      </p:sp>
      <p:sp>
        <p:nvSpPr>
          <p:cNvPr id="15" name="Text 12"/>
          <p:cNvSpPr/>
          <p:nvPr/>
        </p:nvSpPr>
        <p:spPr>
          <a:xfrm>
            <a:off x="6126480" y="33649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DM Sans" pitchFamily="34" charset="0"/>
                <a:ea typeface="DM Sans" pitchFamily="34" charset="-122"/>
                <a:cs typeface="DM Sans" pitchFamily="34" charset="-120"/>
              </a:rPr>
              <a:t>✓</a:t>
            </a:r>
            <a:endParaRPr lang="en-US" sz="1500" dirty="0"/>
          </a:p>
        </p:txBody>
      </p:sp>
      <p:sp>
        <p:nvSpPr>
          <p:cNvPr id="16" name="Text 13"/>
          <p:cNvSpPr/>
          <p:nvPr/>
        </p:nvSpPr>
        <p:spPr>
          <a:xfrm>
            <a:off x="6675120" y="3291840"/>
            <a:ext cx="493776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I called the fire marshal</a:t>
            </a:r>
            <a:endParaRPr lang="en-US" sz="2200" dirty="0"/>
          </a:p>
        </p:txBody>
      </p:sp>
      <p:sp>
        <p:nvSpPr>
          <p:cNvPr id="17" name="Text 14"/>
          <p:cNvSpPr/>
          <p:nvPr/>
        </p:nvSpPr>
        <p:spPr>
          <a:xfrm>
            <a:off x="6675120" y="3730752"/>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written approval to follow</a:t>
            </a:r>
            <a:endParaRPr lang="en-US" sz="1400" dirty="0"/>
          </a:p>
        </p:txBody>
      </p:sp>
      <p:sp>
        <p:nvSpPr>
          <p:cNvPr id="18" name="Shape 15"/>
          <p:cNvSpPr/>
          <p:nvPr/>
        </p:nvSpPr>
        <p:spPr>
          <a:xfrm>
            <a:off x="6126480" y="4233672"/>
            <a:ext cx="384048" cy="384048"/>
          </a:xfrm>
          <a:prstGeom prst="ellipse">
            <a:avLst/>
          </a:prstGeom>
          <a:solidFill>
            <a:srgbClr val="40ACA1"/>
          </a:solidFill>
          <a:ln w="12700">
            <a:solidFill>
              <a:srgbClr val="40ACA1"/>
            </a:solidFill>
            <a:prstDash val="solid"/>
          </a:ln>
        </p:spPr>
      </p:sp>
      <p:sp>
        <p:nvSpPr>
          <p:cNvPr id="19" name="Text 16"/>
          <p:cNvSpPr/>
          <p:nvPr/>
        </p:nvSpPr>
        <p:spPr>
          <a:xfrm>
            <a:off x="6126480" y="4233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DM Sans" pitchFamily="34" charset="0"/>
                <a:ea typeface="DM Sans" pitchFamily="34" charset="-122"/>
                <a:cs typeface="DM Sans" pitchFamily="34" charset="-120"/>
              </a:rPr>
              <a:t>✓</a:t>
            </a:r>
            <a:endParaRPr lang="en-US" sz="1500" dirty="0"/>
          </a:p>
        </p:txBody>
      </p:sp>
      <p:sp>
        <p:nvSpPr>
          <p:cNvPr id="20" name="Text 17"/>
          <p:cNvSpPr/>
          <p:nvPr/>
        </p:nvSpPr>
        <p:spPr>
          <a:xfrm>
            <a:off x="6675120" y="4160520"/>
            <a:ext cx="493776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Monthly fire and tornado drills</a:t>
            </a:r>
            <a:endParaRPr lang="en-US" sz="2200" dirty="0"/>
          </a:p>
        </p:txBody>
      </p:sp>
      <p:sp>
        <p:nvSpPr>
          <p:cNvPr id="21" name="Text 18"/>
          <p:cNvSpPr/>
          <p:nvPr/>
        </p:nvSpPr>
        <p:spPr>
          <a:xfrm>
            <a:off x="6675120" y="4599432"/>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logged every time</a:t>
            </a:r>
            <a:endParaRPr lang="en-US" sz="1400" dirty="0"/>
          </a:p>
        </p:txBody>
      </p:sp>
      <p:sp>
        <p:nvSpPr>
          <p:cNvPr id="22" name="Shape 19"/>
          <p:cNvSpPr/>
          <p:nvPr/>
        </p:nvSpPr>
        <p:spPr>
          <a:xfrm>
            <a:off x="6126480" y="5102352"/>
            <a:ext cx="384048" cy="384048"/>
          </a:xfrm>
          <a:prstGeom prst="ellipse">
            <a:avLst/>
          </a:prstGeom>
          <a:solidFill>
            <a:srgbClr val="40ACA1"/>
          </a:solidFill>
          <a:ln w="12700">
            <a:solidFill>
              <a:srgbClr val="40ACA1"/>
            </a:solidFill>
            <a:prstDash val="solid"/>
          </a:ln>
        </p:spPr>
      </p:sp>
      <p:sp>
        <p:nvSpPr>
          <p:cNvPr id="23" name="Text 20"/>
          <p:cNvSpPr/>
          <p:nvPr/>
        </p:nvSpPr>
        <p:spPr>
          <a:xfrm>
            <a:off x="6126480" y="51023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DM Sans" pitchFamily="34" charset="0"/>
                <a:ea typeface="DM Sans" pitchFamily="34" charset="-122"/>
                <a:cs typeface="DM Sans" pitchFamily="34" charset="-120"/>
              </a:rPr>
              <a:t>✓</a:t>
            </a:r>
            <a:endParaRPr lang="en-US" sz="1500" dirty="0"/>
          </a:p>
        </p:txBody>
      </p:sp>
      <p:sp>
        <p:nvSpPr>
          <p:cNvPr id="24" name="Text 21"/>
          <p:cNvSpPr/>
          <p:nvPr/>
        </p:nvSpPr>
        <p:spPr>
          <a:xfrm>
            <a:off x="6675120" y="5029200"/>
            <a:ext cx="493776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Written state confirmation</a:t>
            </a:r>
            <a:endParaRPr lang="en-US" sz="2200" dirty="0"/>
          </a:p>
        </p:txBody>
      </p:sp>
      <p:sp>
        <p:nvSpPr>
          <p:cNvPr id="25" name="Text 22"/>
          <p:cNvSpPr/>
          <p:nvPr/>
        </p:nvSpPr>
        <p:spPr>
          <a:xfrm>
            <a:off x="6675120" y="5468112"/>
            <a:ext cx="4937760" cy="32004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before we advertise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07</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TEACHERS</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Teachers and staffing</a:t>
            </a:r>
            <a:endParaRPr lang="en-US" sz="4000" dirty="0"/>
          </a:p>
        </p:txBody>
      </p:sp>
      <p:sp>
        <p:nvSpPr>
          <p:cNvPr id="7" name="Shape 4"/>
          <p:cNvSpPr/>
          <p:nvPr/>
        </p:nvSpPr>
        <p:spPr>
          <a:xfrm>
            <a:off x="548640" y="2331720"/>
            <a:ext cx="2633472" cy="1051560"/>
          </a:xfrm>
          <a:prstGeom prst="roundRect">
            <a:avLst>
              <a:gd name="adj" fmla="val 13913"/>
            </a:avLst>
          </a:prstGeom>
          <a:solidFill>
            <a:srgbClr val="FFFFFF"/>
          </a:solidFill>
          <a:ln w="12700">
            <a:solidFill>
              <a:srgbClr val="E8E2D3"/>
            </a:solidFill>
            <a:prstDash val="solid"/>
          </a:ln>
        </p:spPr>
      </p:sp>
      <p:sp>
        <p:nvSpPr>
          <p:cNvPr id="8" name="Shape 5"/>
          <p:cNvSpPr/>
          <p:nvPr/>
        </p:nvSpPr>
        <p:spPr>
          <a:xfrm>
            <a:off x="749808" y="2606040"/>
            <a:ext cx="502920" cy="502920"/>
          </a:xfrm>
          <a:prstGeom prst="ellipse">
            <a:avLst/>
          </a:prstGeom>
          <a:solidFill>
            <a:srgbClr val="40ACA1"/>
          </a:solidFill>
          <a:ln w="12700">
            <a:solidFill>
              <a:srgbClr val="40ACA1"/>
            </a:solidFill>
            <a:prstDash val="solid"/>
          </a:ln>
        </p:spPr>
      </p:sp>
      <p:sp>
        <p:nvSpPr>
          <p:cNvPr id="9" name="Text 6"/>
          <p:cNvSpPr/>
          <p:nvPr/>
        </p:nvSpPr>
        <p:spPr>
          <a:xfrm>
            <a:off x="749808"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10" name="Text 7"/>
          <p:cNvSpPr/>
          <p:nvPr/>
        </p:nvSpPr>
        <p:spPr>
          <a:xfrm>
            <a:off x="1417320" y="2450592"/>
            <a:ext cx="1691640" cy="457200"/>
          </a:xfrm>
          <a:prstGeom prst="rect">
            <a:avLst/>
          </a:prstGeom>
          <a:noFill/>
          <a:ln/>
        </p:spPr>
        <p:txBody>
          <a:bodyPr wrap="square" lIns="0" tIns="0" rIns="0" bIns="0" rtlCol="0" anchor="ctr"/>
          <a:lstStyle/>
          <a:p>
            <a:pPr indent="0" marL="0">
              <a:buNone/>
            </a:pPr>
            <a:r>
              <a:rPr lang="en-US" sz="1700" dirty="0">
                <a:solidFill>
                  <a:srgbClr val="1E2624"/>
                </a:solidFill>
                <a:latin typeface="DM Serif Text" pitchFamily="34" charset="0"/>
                <a:ea typeface="DM Serif Text" pitchFamily="34" charset="-122"/>
                <a:cs typeface="DM Serif Text" pitchFamily="34" charset="-120"/>
              </a:rPr>
              <a:t>Apply</a:t>
            </a:r>
            <a:endParaRPr lang="en-US" sz="1700" dirty="0"/>
          </a:p>
        </p:txBody>
      </p:sp>
      <p:sp>
        <p:nvSpPr>
          <p:cNvPr id="11" name="Text 8"/>
          <p:cNvSpPr/>
          <p:nvPr/>
        </p:nvSpPr>
        <p:spPr>
          <a:xfrm>
            <a:off x="1417320" y="2880360"/>
            <a:ext cx="1691640" cy="320040"/>
          </a:xfrm>
          <a:prstGeom prst="rect">
            <a:avLst/>
          </a:prstGeom>
          <a:noFill/>
          <a:ln/>
        </p:spPr>
        <p:txBody>
          <a:bodyPr wrap="square" lIns="0" tIns="0" rIns="0" bIns="0" rtlCol="0" anchor="ctr"/>
          <a:lstStyle/>
          <a:p>
            <a:pPr indent="0" marL="0">
              <a:buNone/>
            </a:pPr>
            <a:r>
              <a:rPr lang="en-US" sz="1300" dirty="0">
                <a:solidFill>
                  <a:srgbClr val="5D6663"/>
                </a:solidFill>
                <a:latin typeface="DM Sans" pitchFamily="34" charset="0"/>
                <a:ea typeface="DM Sans" pitchFamily="34" charset="-122"/>
                <a:cs typeface="DM Sans" pitchFamily="34" charset="-120"/>
              </a:rPr>
              <a:t>3 minutes</a:t>
            </a:r>
            <a:endParaRPr lang="en-US" sz="1300" dirty="0"/>
          </a:p>
        </p:txBody>
      </p:sp>
      <p:sp>
        <p:nvSpPr>
          <p:cNvPr id="12" name="Shape 9"/>
          <p:cNvSpPr/>
          <p:nvPr/>
        </p:nvSpPr>
        <p:spPr>
          <a:xfrm>
            <a:off x="3364992" y="2331720"/>
            <a:ext cx="2633472" cy="1051560"/>
          </a:xfrm>
          <a:prstGeom prst="roundRect">
            <a:avLst>
              <a:gd name="adj" fmla="val 13913"/>
            </a:avLst>
          </a:prstGeom>
          <a:solidFill>
            <a:srgbClr val="FFFFFF"/>
          </a:solidFill>
          <a:ln w="12700">
            <a:solidFill>
              <a:srgbClr val="E8E2D3"/>
            </a:solidFill>
            <a:prstDash val="solid"/>
          </a:ln>
        </p:spPr>
      </p:sp>
      <p:sp>
        <p:nvSpPr>
          <p:cNvPr id="13" name="Shape 10"/>
          <p:cNvSpPr/>
          <p:nvPr/>
        </p:nvSpPr>
        <p:spPr>
          <a:xfrm>
            <a:off x="3566160" y="2606040"/>
            <a:ext cx="502920" cy="502920"/>
          </a:xfrm>
          <a:prstGeom prst="ellipse">
            <a:avLst/>
          </a:prstGeom>
          <a:solidFill>
            <a:srgbClr val="40ACA1"/>
          </a:solidFill>
          <a:ln w="12700">
            <a:solidFill>
              <a:srgbClr val="40ACA1"/>
            </a:solidFill>
            <a:prstDash val="solid"/>
          </a:ln>
        </p:spPr>
      </p:sp>
      <p:sp>
        <p:nvSpPr>
          <p:cNvPr id="14" name="Text 11"/>
          <p:cNvSpPr/>
          <p:nvPr/>
        </p:nvSpPr>
        <p:spPr>
          <a:xfrm>
            <a:off x="3566160"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2</a:t>
            </a:r>
            <a:endParaRPr lang="en-US" sz="1600" dirty="0"/>
          </a:p>
        </p:txBody>
      </p:sp>
      <p:sp>
        <p:nvSpPr>
          <p:cNvPr id="15" name="Text 12"/>
          <p:cNvSpPr/>
          <p:nvPr/>
        </p:nvSpPr>
        <p:spPr>
          <a:xfrm>
            <a:off x="4233672" y="2450592"/>
            <a:ext cx="1691640" cy="457200"/>
          </a:xfrm>
          <a:prstGeom prst="rect">
            <a:avLst/>
          </a:prstGeom>
          <a:noFill/>
          <a:ln/>
        </p:spPr>
        <p:txBody>
          <a:bodyPr wrap="square" lIns="0" tIns="0" rIns="0" bIns="0" rtlCol="0" anchor="ctr"/>
          <a:lstStyle/>
          <a:p>
            <a:pPr indent="0" marL="0">
              <a:buNone/>
            </a:pPr>
            <a:r>
              <a:rPr lang="en-US" sz="1700" dirty="0">
                <a:solidFill>
                  <a:srgbClr val="1E2624"/>
                </a:solidFill>
                <a:latin typeface="DM Serif Text" pitchFamily="34" charset="0"/>
                <a:ea typeface="DM Serif Text" pitchFamily="34" charset="-122"/>
                <a:cs typeface="DM Serif Text" pitchFamily="34" charset="-120"/>
              </a:rPr>
              <a:t>Screening</a:t>
            </a:r>
            <a:endParaRPr lang="en-US" sz="1700" dirty="0"/>
          </a:p>
        </p:txBody>
      </p:sp>
      <p:sp>
        <p:nvSpPr>
          <p:cNvPr id="16" name="Text 13"/>
          <p:cNvSpPr/>
          <p:nvPr/>
        </p:nvSpPr>
        <p:spPr>
          <a:xfrm>
            <a:off x="4233672" y="2880360"/>
            <a:ext cx="1691640" cy="320040"/>
          </a:xfrm>
          <a:prstGeom prst="rect">
            <a:avLst/>
          </a:prstGeom>
          <a:noFill/>
          <a:ln/>
        </p:spPr>
        <p:txBody>
          <a:bodyPr wrap="square" lIns="0" tIns="0" rIns="0" bIns="0" rtlCol="0" anchor="ctr"/>
          <a:lstStyle/>
          <a:p>
            <a:pPr indent="0" marL="0">
              <a:buNone/>
            </a:pPr>
            <a:r>
              <a:rPr lang="en-US" sz="1300" dirty="0">
                <a:solidFill>
                  <a:srgbClr val="5D6663"/>
                </a:solidFill>
                <a:latin typeface="DM Sans" pitchFamily="34" charset="0"/>
                <a:ea typeface="DM Sans" pitchFamily="34" charset="-122"/>
                <a:cs typeface="DM Sans" pitchFamily="34" charset="-120"/>
              </a:rPr>
              <a:t>background check</a:t>
            </a:r>
            <a:endParaRPr lang="en-US" sz="1300" dirty="0"/>
          </a:p>
        </p:txBody>
      </p:sp>
      <p:sp>
        <p:nvSpPr>
          <p:cNvPr id="17" name="Shape 14"/>
          <p:cNvSpPr/>
          <p:nvPr/>
        </p:nvSpPr>
        <p:spPr>
          <a:xfrm>
            <a:off x="6181344" y="2331720"/>
            <a:ext cx="2633472" cy="1051560"/>
          </a:xfrm>
          <a:prstGeom prst="roundRect">
            <a:avLst>
              <a:gd name="adj" fmla="val 13913"/>
            </a:avLst>
          </a:prstGeom>
          <a:solidFill>
            <a:srgbClr val="FFFFFF"/>
          </a:solidFill>
          <a:ln w="12700">
            <a:solidFill>
              <a:srgbClr val="E8E2D3"/>
            </a:solidFill>
            <a:prstDash val="solid"/>
          </a:ln>
        </p:spPr>
      </p:sp>
      <p:sp>
        <p:nvSpPr>
          <p:cNvPr id="18" name="Shape 15"/>
          <p:cNvSpPr/>
          <p:nvPr/>
        </p:nvSpPr>
        <p:spPr>
          <a:xfrm>
            <a:off x="6382512" y="2606040"/>
            <a:ext cx="502920" cy="502920"/>
          </a:xfrm>
          <a:prstGeom prst="ellipse">
            <a:avLst/>
          </a:prstGeom>
          <a:solidFill>
            <a:srgbClr val="40ACA1"/>
          </a:solidFill>
          <a:ln w="12700">
            <a:solidFill>
              <a:srgbClr val="40ACA1"/>
            </a:solidFill>
            <a:prstDash val="solid"/>
          </a:ln>
        </p:spPr>
      </p:sp>
      <p:sp>
        <p:nvSpPr>
          <p:cNvPr id="19" name="Text 16"/>
          <p:cNvSpPr/>
          <p:nvPr/>
        </p:nvSpPr>
        <p:spPr>
          <a:xfrm>
            <a:off x="6382512"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3</a:t>
            </a:r>
            <a:endParaRPr lang="en-US" sz="1600" dirty="0"/>
          </a:p>
        </p:txBody>
      </p:sp>
      <p:sp>
        <p:nvSpPr>
          <p:cNvPr id="20" name="Text 17"/>
          <p:cNvSpPr/>
          <p:nvPr/>
        </p:nvSpPr>
        <p:spPr>
          <a:xfrm>
            <a:off x="7050024" y="2450592"/>
            <a:ext cx="1691640" cy="457200"/>
          </a:xfrm>
          <a:prstGeom prst="rect">
            <a:avLst/>
          </a:prstGeom>
          <a:noFill/>
          <a:ln/>
        </p:spPr>
        <p:txBody>
          <a:bodyPr wrap="square" lIns="0" tIns="0" rIns="0" bIns="0" rtlCol="0" anchor="ctr"/>
          <a:lstStyle/>
          <a:p>
            <a:pPr indent="0" marL="0">
              <a:buNone/>
            </a:pPr>
            <a:r>
              <a:rPr lang="en-US" sz="1700" dirty="0">
                <a:solidFill>
                  <a:srgbClr val="1E2624"/>
                </a:solidFill>
                <a:latin typeface="DM Serif Text" pitchFamily="34" charset="0"/>
                <a:ea typeface="DM Serif Text" pitchFamily="34" charset="-122"/>
                <a:cs typeface="DM Serif Text" pitchFamily="34" charset="-120"/>
              </a:rPr>
              <a:t>State training</a:t>
            </a:r>
            <a:endParaRPr lang="en-US" sz="1700" dirty="0"/>
          </a:p>
        </p:txBody>
      </p:sp>
      <p:sp>
        <p:nvSpPr>
          <p:cNvPr id="21" name="Text 18"/>
          <p:cNvSpPr/>
          <p:nvPr/>
        </p:nvSpPr>
        <p:spPr>
          <a:xfrm>
            <a:off x="7050024" y="2880360"/>
            <a:ext cx="1691640" cy="320040"/>
          </a:xfrm>
          <a:prstGeom prst="rect">
            <a:avLst/>
          </a:prstGeom>
          <a:noFill/>
          <a:ln/>
        </p:spPr>
        <p:txBody>
          <a:bodyPr wrap="square" lIns="0" tIns="0" rIns="0" bIns="0" rtlCol="0" anchor="ctr"/>
          <a:lstStyle/>
          <a:p>
            <a:pPr indent="0" marL="0">
              <a:buNone/>
            </a:pPr>
            <a:r>
              <a:rPr lang="en-US" sz="1300" dirty="0">
                <a:solidFill>
                  <a:srgbClr val="5D6663"/>
                </a:solidFill>
                <a:latin typeface="DM Sans" pitchFamily="34" charset="0"/>
                <a:ea typeface="DM Sans" pitchFamily="34" charset="-122"/>
                <a:cs typeface="DM Sans" pitchFamily="34" charset="-120"/>
              </a:rPr>
              <a:t>free, online</a:t>
            </a:r>
            <a:endParaRPr lang="en-US" sz="1300" dirty="0"/>
          </a:p>
        </p:txBody>
      </p:sp>
      <p:sp>
        <p:nvSpPr>
          <p:cNvPr id="22" name="Shape 19"/>
          <p:cNvSpPr/>
          <p:nvPr/>
        </p:nvSpPr>
        <p:spPr>
          <a:xfrm>
            <a:off x="8997696" y="2331720"/>
            <a:ext cx="2633472" cy="1051560"/>
          </a:xfrm>
          <a:prstGeom prst="roundRect">
            <a:avLst>
              <a:gd name="adj" fmla="val 13913"/>
            </a:avLst>
          </a:prstGeom>
          <a:solidFill>
            <a:srgbClr val="FFFFFF"/>
          </a:solidFill>
          <a:ln w="12700">
            <a:solidFill>
              <a:srgbClr val="E8E2D3"/>
            </a:solidFill>
            <a:prstDash val="solid"/>
          </a:ln>
        </p:spPr>
      </p:sp>
      <p:sp>
        <p:nvSpPr>
          <p:cNvPr id="23" name="Shape 20"/>
          <p:cNvSpPr/>
          <p:nvPr/>
        </p:nvSpPr>
        <p:spPr>
          <a:xfrm>
            <a:off x="9198864" y="2606040"/>
            <a:ext cx="502920" cy="502920"/>
          </a:xfrm>
          <a:prstGeom prst="ellipse">
            <a:avLst/>
          </a:prstGeom>
          <a:solidFill>
            <a:srgbClr val="40ACA1"/>
          </a:solidFill>
          <a:ln w="12700">
            <a:solidFill>
              <a:srgbClr val="40ACA1"/>
            </a:solidFill>
            <a:prstDash val="solid"/>
          </a:ln>
        </p:spPr>
      </p:sp>
      <p:sp>
        <p:nvSpPr>
          <p:cNvPr id="24" name="Text 21"/>
          <p:cNvSpPr/>
          <p:nvPr/>
        </p:nvSpPr>
        <p:spPr>
          <a:xfrm>
            <a:off x="9198864" y="26060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4</a:t>
            </a:r>
            <a:endParaRPr lang="en-US" sz="1600" dirty="0"/>
          </a:p>
        </p:txBody>
      </p:sp>
      <p:sp>
        <p:nvSpPr>
          <p:cNvPr id="25" name="Text 22"/>
          <p:cNvSpPr/>
          <p:nvPr/>
        </p:nvSpPr>
        <p:spPr>
          <a:xfrm>
            <a:off x="9866376" y="2450592"/>
            <a:ext cx="1691640" cy="457200"/>
          </a:xfrm>
          <a:prstGeom prst="rect">
            <a:avLst/>
          </a:prstGeom>
          <a:noFill/>
          <a:ln/>
        </p:spPr>
        <p:txBody>
          <a:bodyPr wrap="square" lIns="0" tIns="0" rIns="0" bIns="0" rtlCol="0" anchor="ctr"/>
          <a:lstStyle/>
          <a:p>
            <a:pPr indent="0" marL="0">
              <a:buNone/>
            </a:pPr>
            <a:r>
              <a:rPr lang="en-US" sz="1700" dirty="0">
                <a:solidFill>
                  <a:srgbClr val="1E2624"/>
                </a:solidFill>
                <a:latin typeface="DM Serif Text" pitchFamily="34" charset="0"/>
                <a:ea typeface="DM Serif Text" pitchFamily="34" charset="-122"/>
                <a:cs typeface="DM Serif Text" pitchFamily="34" charset="-120"/>
              </a:rPr>
              <a:t>CPR</a:t>
            </a:r>
            <a:endParaRPr lang="en-US" sz="1700" dirty="0"/>
          </a:p>
        </p:txBody>
      </p:sp>
      <p:sp>
        <p:nvSpPr>
          <p:cNvPr id="26" name="Text 23"/>
          <p:cNvSpPr/>
          <p:nvPr/>
        </p:nvSpPr>
        <p:spPr>
          <a:xfrm>
            <a:off x="9866376" y="2880360"/>
            <a:ext cx="1691640" cy="320040"/>
          </a:xfrm>
          <a:prstGeom prst="rect">
            <a:avLst/>
          </a:prstGeom>
          <a:noFill/>
          <a:ln/>
        </p:spPr>
        <p:txBody>
          <a:bodyPr wrap="square" lIns="0" tIns="0" rIns="0" bIns="0" rtlCol="0" anchor="ctr"/>
          <a:lstStyle/>
          <a:p>
            <a:pPr indent="0" marL="0">
              <a:buNone/>
            </a:pPr>
            <a:r>
              <a:rPr lang="en-US" sz="1300" dirty="0">
                <a:solidFill>
                  <a:srgbClr val="5D6663"/>
                </a:solidFill>
                <a:latin typeface="DM Sans" pitchFamily="34" charset="0"/>
                <a:ea typeface="DM Sans" pitchFamily="34" charset="-122"/>
                <a:cs typeface="DM Sans" pitchFamily="34" charset="-120"/>
              </a:rPr>
              <a:t>one morning</a:t>
            </a:r>
            <a:endParaRPr lang="en-US" sz="1300" dirty="0"/>
          </a:p>
        </p:txBody>
      </p:sp>
      <p:sp>
        <p:nvSpPr>
          <p:cNvPr id="27" name="Shape 24"/>
          <p:cNvSpPr/>
          <p:nvPr/>
        </p:nvSpPr>
        <p:spPr>
          <a:xfrm>
            <a:off x="548640" y="3657600"/>
            <a:ext cx="3520440" cy="1325880"/>
          </a:xfrm>
          <a:prstGeom prst="roundRect">
            <a:avLst>
              <a:gd name="adj" fmla="val 11034"/>
            </a:avLst>
          </a:prstGeom>
          <a:solidFill>
            <a:srgbClr val="FFFFFF"/>
          </a:solidFill>
          <a:ln w="12700">
            <a:solidFill>
              <a:srgbClr val="E8E2D3"/>
            </a:solidFill>
            <a:prstDash val="solid"/>
          </a:ln>
        </p:spPr>
      </p:sp>
      <p:sp>
        <p:nvSpPr>
          <p:cNvPr id="28" name="Text 25"/>
          <p:cNvSpPr/>
          <p:nvPr/>
        </p:nvSpPr>
        <p:spPr>
          <a:xfrm>
            <a:off x="548640" y="3767328"/>
            <a:ext cx="3520440" cy="411480"/>
          </a:xfrm>
          <a:prstGeom prst="rect">
            <a:avLst/>
          </a:prstGeom>
          <a:noFill/>
          <a:ln/>
        </p:spPr>
        <p:txBody>
          <a:bodyPr wrap="square" lIns="0" tIns="0" rIns="0" bIns="0" rtlCol="0" anchor="ctr"/>
          <a:lstStyle/>
          <a:p>
            <a:pPr algn="ctr" indent="0" marL="0">
              <a:buNone/>
            </a:pPr>
            <a:r>
              <a:rPr lang="en-US" sz="1700" b="1" dirty="0">
                <a:solidFill>
                  <a:srgbClr val="5D6663"/>
                </a:solidFill>
                <a:latin typeface="DM Sans" pitchFamily="34" charset="0"/>
                <a:ea typeface="DM Sans" pitchFamily="34" charset="-122"/>
                <a:cs typeface="DM Sans" pitchFamily="34" charset="-120"/>
              </a:rPr>
              <a:t>2 teachers</a:t>
            </a:r>
            <a:endParaRPr lang="en-US" sz="1700" dirty="0"/>
          </a:p>
        </p:txBody>
      </p:sp>
      <p:sp>
        <p:nvSpPr>
          <p:cNvPr id="29" name="Text 26"/>
          <p:cNvSpPr/>
          <p:nvPr/>
        </p:nvSpPr>
        <p:spPr>
          <a:xfrm>
            <a:off x="548640" y="4160520"/>
            <a:ext cx="3520440" cy="731520"/>
          </a:xfrm>
          <a:prstGeom prst="rect">
            <a:avLst/>
          </a:prstGeom>
          <a:noFill/>
          <a:ln/>
        </p:spPr>
        <p:txBody>
          <a:bodyPr wrap="square" lIns="0" tIns="0" rIns="0" bIns="0" rtlCol="0" anchor="ctr"/>
          <a:lstStyle/>
          <a:p>
            <a:pPr algn="ctr" indent="0" marL="0">
              <a:buNone/>
            </a:pPr>
            <a:r>
              <a:rPr lang="en-US" sz="3600" dirty="0">
                <a:solidFill>
                  <a:srgbClr val="1E2624"/>
                </a:solidFill>
                <a:latin typeface="DM Serif Text" pitchFamily="34" charset="0"/>
                <a:ea typeface="DM Serif Text" pitchFamily="34" charset="-122"/>
                <a:cs typeface="DM Serif Text" pitchFamily="34" charset="-120"/>
              </a:rPr>
              <a:t>1 room</a:t>
            </a:r>
            <a:endParaRPr lang="en-US" sz="3600" dirty="0"/>
          </a:p>
        </p:txBody>
      </p:sp>
      <p:sp>
        <p:nvSpPr>
          <p:cNvPr id="30" name="Shape 27"/>
          <p:cNvSpPr/>
          <p:nvPr/>
        </p:nvSpPr>
        <p:spPr>
          <a:xfrm>
            <a:off x="4297680" y="3657600"/>
            <a:ext cx="3520440" cy="1325880"/>
          </a:xfrm>
          <a:prstGeom prst="roundRect">
            <a:avLst>
              <a:gd name="adj" fmla="val 11034"/>
            </a:avLst>
          </a:prstGeom>
          <a:solidFill>
            <a:srgbClr val="FFFFFF"/>
          </a:solidFill>
          <a:ln w="12700">
            <a:solidFill>
              <a:srgbClr val="E8E2D3"/>
            </a:solidFill>
            <a:prstDash val="solid"/>
          </a:ln>
        </p:spPr>
      </p:sp>
      <p:sp>
        <p:nvSpPr>
          <p:cNvPr id="31" name="Text 28"/>
          <p:cNvSpPr/>
          <p:nvPr/>
        </p:nvSpPr>
        <p:spPr>
          <a:xfrm>
            <a:off x="4297680" y="3767328"/>
            <a:ext cx="3520440" cy="411480"/>
          </a:xfrm>
          <a:prstGeom prst="rect">
            <a:avLst/>
          </a:prstGeom>
          <a:noFill/>
          <a:ln/>
        </p:spPr>
        <p:txBody>
          <a:bodyPr wrap="square" lIns="0" tIns="0" rIns="0" bIns="0" rtlCol="0" anchor="ctr"/>
          <a:lstStyle/>
          <a:p>
            <a:pPr algn="ctr" indent="0" marL="0">
              <a:buNone/>
            </a:pPr>
            <a:r>
              <a:rPr lang="en-US" sz="1700" b="1" dirty="0">
                <a:solidFill>
                  <a:srgbClr val="5D6663"/>
                </a:solidFill>
                <a:latin typeface="DM Sans" pitchFamily="34" charset="0"/>
                <a:ea typeface="DM Sans" pitchFamily="34" charset="-122"/>
                <a:cs typeface="DM Sans" pitchFamily="34" charset="-120"/>
              </a:rPr>
              <a:t>4 teachers</a:t>
            </a:r>
            <a:endParaRPr lang="en-US" sz="1700" dirty="0"/>
          </a:p>
        </p:txBody>
      </p:sp>
      <p:sp>
        <p:nvSpPr>
          <p:cNvPr id="32" name="Text 29"/>
          <p:cNvSpPr/>
          <p:nvPr/>
        </p:nvSpPr>
        <p:spPr>
          <a:xfrm>
            <a:off x="4297680" y="4160520"/>
            <a:ext cx="3520440" cy="731520"/>
          </a:xfrm>
          <a:prstGeom prst="rect">
            <a:avLst/>
          </a:prstGeom>
          <a:noFill/>
          <a:ln/>
        </p:spPr>
        <p:txBody>
          <a:bodyPr wrap="square" lIns="0" tIns="0" rIns="0" bIns="0" rtlCol="0" anchor="ctr"/>
          <a:lstStyle/>
          <a:p>
            <a:pPr algn="ctr" indent="0" marL="0">
              <a:buNone/>
            </a:pPr>
            <a:r>
              <a:rPr lang="en-US" sz="3600" dirty="0">
                <a:solidFill>
                  <a:srgbClr val="1E2624"/>
                </a:solidFill>
                <a:latin typeface="DM Serif Text" pitchFamily="34" charset="0"/>
                <a:ea typeface="DM Serif Text" pitchFamily="34" charset="-122"/>
                <a:cs typeface="DM Serif Text" pitchFamily="34" charset="-120"/>
              </a:rPr>
              <a:t>2 rooms</a:t>
            </a:r>
            <a:endParaRPr lang="en-US" sz="3600" dirty="0"/>
          </a:p>
        </p:txBody>
      </p:sp>
      <p:sp>
        <p:nvSpPr>
          <p:cNvPr id="33" name="Shape 30"/>
          <p:cNvSpPr/>
          <p:nvPr/>
        </p:nvSpPr>
        <p:spPr>
          <a:xfrm>
            <a:off x="8046720" y="3657600"/>
            <a:ext cx="3520440" cy="1325880"/>
          </a:xfrm>
          <a:prstGeom prst="roundRect">
            <a:avLst>
              <a:gd name="adj" fmla="val 11034"/>
            </a:avLst>
          </a:prstGeom>
          <a:solidFill>
            <a:srgbClr val="40ACA1"/>
          </a:solidFill>
          <a:ln w="12700">
            <a:solidFill>
              <a:srgbClr val="40ACA1"/>
            </a:solidFill>
            <a:prstDash val="solid"/>
          </a:ln>
        </p:spPr>
      </p:sp>
      <p:sp>
        <p:nvSpPr>
          <p:cNvPr id="34" name="Text 31"/>
          <p:cNvSpPr/>
          <p:nvPr/>
        </p:nvSpPr>
        <p:spPr>
          <a:xfrm>
            <a:off x="8046720" y="3767328"/>
            <a:ext cx="352044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DM Sans" pitchFamily="34" charset="0"/>
                <a:ea typeface="DM Sans" pitchFamily="34" charset="-122"/>
                <a:cs typeface="DM Sans" pitchFamily="34" charset="-120"/>
              </a:rPr>
              <a:t>6 teachers</a:t>
            </a:r>
            <a:endParaRPr lang="en-US" sz="1700" dirty="0"/>
          </a:p>
        </p:txBody>
      </p:sp>
      <p:sp>
        <p:nvSpPr>
          <p:cNvPr id="35" name="Text 32"/>
          <p:cNvSpPr/>
          <p:nvPr/>
        </p:nvSpPr>
        <p:spPr>
          <a:xfrm>
            <a:off x="8046720" y="4160520"/>
            <a:ext cx="3520440" cy="731520"/>
          </a:xfrm>
          <a:prstGeom prst="rect">
            <a:avLst/>
          </a:prstGeom>
          <a:noFill/>
          <a:ln/>
        </p:spPr>
        <p:txBody>
          <a:bodyPr wrap="square" lIns="0" tIns="0" rIns="0" bIns="0" rtlCol="0" anchor="ctr"/>
          <a:lstStyle/>
          <a:p>
            <a:pPr algn="ctr" indent="0" marL="0">
              <a:buNone/>
            </a:pPr>
            <a:r>
              <a:rPr lang="en-US" sz="3600" dirty="0">
                <a:solidFill>
                  <a:srgbClr val="FFFFFF"/>
                </a:solidFill>
                <a:latin typeface="DM Serif Text" pitchFamily="34" charset="0"/>
                <a:ea typeface="DM Serif Text" pitchFamily="34" charset="-122"/>
                <a:cs typeface="DM Serif Text" pitchFamily="34" charset="-120"/>
              </a:rPr>
              <a:t>3 rooms</a:t>
            </a:r>
            <a:endParaRPr lang="en-US" sz="3600" dirty="0"/>
          </a:p>
        </p:txBody>
      </p:sp>
      <p:sp>
        <p:nvSpPr>
          <p:cNvPr id="36" name="Text 33"/>
          <p:cNvSpPr/>
          <p:nvPr/>
        </p:nvSpPr>
        <p:spPr>
          <a:xfrm>
            <a:off x="548640" y="5257800"/>
            <a:ext cx="11064240" cy="457200"/>
          </a:xfrm>
          <a:prstGeom prst="rect">
            <a:avLst/>
          </a:prstGeom>
          <a:noFill/>
          <a:ln/>
        </p:spPr>
        <p:txBody>
          <a:bodyPr wrap="square" lIns="0" tIns="0" rIns="0" bIns="0" rtlCol="0" anchor="ctr"/>
          <a:lstStyle/>
          <a:p>
            <a:pPr indent="0" marL="0">
              <a:buNone/>
            </a:pPr>
            <a:r>
              <a:rPr lang="en-US" sz="1800" b="1" dirty="0">
                <a:solidFill>
                  <a:srgbClr val="2E8A80"/>
                </a:solidFill>
                <a:latin typeface="DM Sans" pitchFamily="34" charset="0"/>
                <a:ea typeface="DM Sans" pitchFamily="34" charset="-122"/>
                <a:cs typeface="DM Sans" pitchFamily="34" charset="-120"/>
              </a:rPr>
              <a:t>Today: 2 teachers and 2 subs committed. Goal: 6 teachers hired by December 1.</a:t>
            </a:r>
            <a:endParaRPr lang="en-US" sz="1800" dirty="0"/>
          </a:p>
        </p:txBody>
      </p:sp>
      <p:sp>
        <p:nvSpPr>
          <p:cNvPr id="37" name="Text 34"/>
          <p:cNvSpPr/>
          <p:nvPr/>
        </p:nvSpPr>
        <p:spPr>
          <a:xfrm>
            <a:off x="548640" y="5687568"/>
            <a:ext cx="11064240" cy="603504"/>
          </a:xfrm>
          <a:prstGeom prst="rect">
            <a:avLst/>
          </a:prstGeom>
          <a:noFill/>
          <a:ln/>
        </p:spPr>
        <p:txBody>
          <a:bodyPr wrap="square" lIns="0" tIns="0" rIns="0" bIns="0" rtlCol="0" anchor="t"/>
          <a:lstStyle/>
          <a:p>
            <a:pPr indent="0" marL="0">
              <a:buNone/>
            </a:pPr>
            <a:r>
              <a:rPr lang="en-US" sz="1400" dirty="0">
                <a:solidFill>
                  <a:srgbClr val="5D6663"/>
                </a:solidFill>
                <a:latin typeface="DM Sans" pitchFamily="34" charset="0"/>
                <a:ea typeface="DM Sans" pitchFamily="34" charset="-122"/>
                <a:cs typeface="DM Sans" pitchFamily="34" charset="-120"/>
              </a:rPr>
              <a:t>Training led by my sister, Melissa: 8 years as Cross Church's associate preschool director, and the SBC's first Caring Well coordinator.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08</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TUITION</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Founding Family rates</a:t>
            </a:r>
            <a:endParaRPr lang="en-US" sz="4000" dirty="0"/>
          </a:p>
        </p:txBody>
      </p:sp>
      <p:sp>
        <p:nvSpPr>
          <p:cNvPr id="7" name="Shape 4"/>
          <p:cNvSpPr/>
          <p:nvPr/>
        </p:nvSpPr>
        <p:spPr>
          <a:xfrm>
            <a:off x="548640" y="2377440"/>
            <a:ext cx="3520440" cy="2788920"/>
          </a:xfrm>
          <a:prstGeom prst="roundRect">
            <a:avLst>
              <a:gd name="adj" fmla="val 5902"/>
            </a:avLst>
          </a:prstGeom>
          <a:solidFill>
            <a:srgbClr val="FFFFFF"/>
          </a:solidFill>
          <a:ln w="31750">
            <a:solidFill>
              <a:srgbClr val="40ACA1"/>
            </a:solidFill>
            <a:prstDash val="solid"/>
          </a:ln>
        </p:spPr>
      </p:sp>
      <p:sp>
        <p:nvSpPr>
          <p:cNvPr id="8" name="Text 5"/>
          <p:cNvSpPr/>
          <p:nvPr/>
        </p:nvSpPr>
        <p:spPr>
          <a:xfrm>
            <a:off x="548640" y="2578608"/>
            <a:ext cx="3520440" cy="320040"/>
          </a:xfrm>
          <a:prstGeom prst="rect">
            <a:avLst/>
          </a:prstGeom>
          <a:noFill/>
          <a:ln/>
        </p:spPr>
        <p:txBody>
          <a:bodyPr wrap="square" lIns="0" tIns="0" rIns="0" bIns="0" rtlCol="0" anchor="ctr"/>
          <a:lstStyle/>
          <a:p>
            <a:pPr algn="ctr" indent="0" marL="0">
              <a:buNone/>
            </a:pPr>
            <a:r>
              <a:rPr lang="en-US" sz="1200" b="1" spc="300" kern="0" dirty="0">
                <a:solidFill>
                  <a:srgbClr val="2E8A80"/>
                </a:solidFill>
                <a:latin typeface="DM Sans" pitchFamily="34" charset="0"/>
                <a:ea typeface="DM Sans" pitchFamily="34" charset="-122"/>
                <a:cs typeface="DM Sans" pitchFamily="34" charset="-120"/>
              </a:rPr>
              <a:t>TODDLERS AND PRESCHOOL</a:t>
            </a:r>
            <a:endParaRPr lang="en-US" sz="1200" dirty="0"/>
          </a:p>
        </p:txBody>
      </p:sp>
      <p:sp>
        <p:nvSpPr>
          <p:cNvPr id="9" name="Text 6"/>
          <p:cNvSpPr/>
          <p:nvPr/>
        </p:nvSpPr>
        <p:spPr>
          <a:xfrm>
            <a:off x="548640" y="2852928"/>
            <a:ext cx="3520440" cy="1188720"/>
          </a:xfrm>
          <a:prstGeom prst="rect">
            <a:avLst/>
          </a:prstGeom>
          <a:noFill/>
          <a:ln/>
        </p:spPr>
        <p:txBody>
          <a:bodyPr wrap="square" lIns="0" tIns="0" rIns="0" bIns="0" rtlCol="0" anchor="ctr"/>
          <a:lstStyle/>
          <a:p>
            <a:pPr algn="ctr" indent="0" marL="0">
              <a:buNone/>
            </a:pPr>
            <a:r>
              <a:rPr lang="en-US" sz="6000" dirty="0">
                <a:solidFill>
                  <a:srgbClr val="1E2624"/>
                </a:solidFill>
                <a:latin typeface="DM Serif Text" pitchFamily="34" charset="0"/>
                <a:ea typeface="DM Serif Text" pitchFamily="34" charset="-122"/>
                <a:cs typeface="DM Serif Text" pitchFamily="34" charset="-120"/>
              </a:rPr>
              <a:t>$20</a:t>
            </a:r>
            <a:endParaRPr lang="en-US" sz="6000" dirty="0"/>
          </a:p>
        </p:txBody>
      </p:sp>
      <p:sp>
        <p:nvSpPr>
          <p:cNvPr id="10" name="Text 7"/>
          <p:cNvSpPr/>
          <p:nvPr/>
        </p:nvSpPr>
        <p:spPr>
          <a:xfrm>
            <a:off x="548640" y="4069080"/>
            <a:ext cx="3520440" cy="384048"/>
          </a:xfrm>
          <a:prstGeom prst="rect">
            <a:avLst/>
          </a:prstGeom>
          <a:noFill/>
          <a:ln/>
        </p:spPr>
        <p:txBody>
          <a:bodyPr wrap="square" lIns="0" tIns="0" rIns="0" bIns="0" rtlCol="0" anchor="ctr"/>
          <a:lstStyle/>
          <a:p>
            <a:pPr algn="ctr" indent="0" marL="0">
              <a:buNone/>
            </a:pPr>
            <a:r>
              <a:rPr lang="en-US" sz="1600" b="1" dirty="0">
                <a:solidFill>
                  <a:srgbClr val="1E2624"/>
                </a:solidFill>
                <a:latin typeface="DM Sans" pitchFamily="34" charset="0"/>
                <a:ea typeface="DM Sans" pitchFamily="34" charset="-122"/>
                <a:cs typeface="DM Sans" pitchFamily="34" charset="-120"/>
              </a:rPr>
              <a:t>per Thursday, 18 months to Pre-K</a:t>
            </a:r>
            <a:endParaRPr lang="en-US" sz="1600" dirty="0"/>
          </a:p>
        </p:txBody>
      </p:sp>
      <p:sp>
        <p:nvSpPr>
          <p:cNvPr id="11" name="Text 8"/>
          <p:cNvSpPr/>
          <p:nvPr/>
        </p:nvSpPr>
        <p:spPr>
          <a:xfrm>
            <a:off x="548640" y="4498848"/>
            <a:ext cx="3520440" cy="411480"/>
          </a:xfrm>
          <a:prstGeom prst="rect">
            <a:avLst/>
          </a:prstGeom>
          <a:noFill/>
          <a:ln/>
        </p:spPr>
        <p:txBody>
          <a:bodyPr wrap="square" lIns="0" tIns="0" rIns="0" bIns="0" rtlCol="0" anchor="ctr"/>
          <a:lstStyle/>
          <a:p>
            <a:pPr algn="ctr" indent="0" marL="0">
              <a:buNone/>
            </a:pPr>
            <a:r>
              <a:rPr lang="en-US" sz="1500" dirty="0">
                <a:solidFill>
                  <a:srgbClr val="5D6663"/>
                </a:solidFill>
                <a:latin typeface="DM Sans" pitchFamily="34" charset="0"/>
                <a:ea typeface="DM Sans" pitchFamily="34" charset="-122"/>
                <a:cs typeface="DM Sans" pitchFamily="34" charset="-120"/>
              </a:rPr>
              <a:t>$93 a month, snacks included</a:t>
            </a:r>
            <a:endParaRPr lang="en-US" sz="1500" dirty="0"/>
          </a:p>
        </p:txBody>
      </p:sp>
      <p:sp>
        <p:nvSpPr>
          <p:cNvPr id="12" name="Shape 9"/>
          <p:cNvSpPr/>
          <p:nvPr/>
        </p:nvSpPr>
        <p:spPr>
          <a:xfrm>
            <a:off x="4297680" y="2377440"/>
            <a:ext cx="3520440" cy="2788920"/>
          </a:xfrm>
          <a:prstGeom prst="roundRect">
            <a:avLst>
              <a:gd name="adj" fmla="val 5902"/>
            </a:avLst>
          </a:prstGeom>
          <a:solidFill>
            <a:srgbClr val="FFFFFF"/>
          </a:solidFill>
          <a:ln w="12700">
            <a:solidFill>
              <a:srgbClr val="E8E2D3"/>
            </a:solidFill>
            <a:prstDash val="solid"/>
          </a:ln>
        </p:spPr>
      </p:sp>
      <p:sp>
        <p:nvSpPr>
          <p:cNvPr id="13" name="Text 10"/>
          <p:cNvSpPr/>
          <p:nvPr/>
        </p:nvSpPr>
        <p:spPr>
          <a:xfrm>
            <a:off x="4297680" y="2578608"/>
            <a:ext cx="3520440" cy="320040"/>
          </a:xfrm>
          <a:prstGeom prst="rect">
            <a:avLst/>
          </a:prstGeom>
          <a:noFill/>
          <a:ln/>
        </p:spPr>
        <p:txBody>
          <a:bodyPr wrap="square" lIns="0" tIns="0" rIns="0" bIns="0" rtlCol="0" anchor="ctr"/>
          <a:lstStyle/>
          <a:p>
            <a:pPr algn="ctr" indent="0" marL="0">
              <a:buNone/>
            </a:pPr>
            <a:r>
              <a:rPr lang="en-US" sz="1200" b="1" spc="300" kern="0" dirty="0">
                <a:solidFill>
                  <a:srgbClr val="2E8A80"/>
                </a:solidFill>
                <a:latin typeface="DM Sans" pitchFamily="34" charset="0"/>
                <a:ea typeface="DM Sans" pitchFamily="34" charset="-122"/>
                <a:cs typeface="DM Sans" pitchFamily="34" charset="-120"/>
              </a:rPr>
              <a:t>BABIES</a:t>
            </a:r>
            <a:endParaRPr lang="en-US" sz="1200" dirty="0"/>
          </a:p>
        </p:txBody>
      </p:sp>
      <p:sp>
        <p:nvSpPr>
          <p:cNvPr id="14" name="Text 11"/>
          <p:cNvSpPr/>
          <p:nvPr/>
        </p:nvSpPr>
        <p:spPr>
          <a:xfrm>
            <a:off x="4297680" y="2852928"/>
            <a:ext cx="3520440" cy="1188720"/>
          </a:xfrm>
          <a:prstGeom prst="rect">
            <a:avLst/>
          </a:prstGeom>
          <a:noFill/>
          <a:ln/>
        </p:spPr>
        <p:txBody>
          <a:bodyPr wrap="square" lIns="0" tIns="0" rIns="0" bIns="0" rtlCol="0" anchor="ctr"/>
          <a:lstStyle/>
          <a:p>
            <a:pPr algn="ctr" indent="0" marL="0">
              <a:buNone/>
            </a:pPr>
            <a:r>
              <a:rPr lang="en-US" sz="6000" dirty="0">
                <a:solidFill>
                  <a:srgbClr val="1E2624"/>
                </a:solidFill>
                <a:latin typeface="DM Serif Text" pitchFamily="34" charset="0"/>
                <a:ea typeface="DM Serif Text" pitchFamily="34" charset="-122"/>
                <a:cs typeface="DM Serif Text" pitchFamily="34" charset="-120"/>
              </a:rPr>
              <a:t>$25</a:t>
            </a:r>
            <a:endParaRPr lang="en-US" sz="6000" dirty="0"/>
          </a:p>
        </p:txBody>
      </p:sp>
      <p:sp>
        <p:nvSpPr>
          <p:cNvPr id="15" name="Text 12"/>
          <p:cNvSpPr/>
          <p:nvPr/>
        </p:nvSpPr>
        <p:spPr>
          <a:xfrm>
            <a:off x="4297680" y="4069080"/>
            <a:ext cx="3520440" cy="384048"/>
          </a:xfrm>
          <a:prstGeom prst="rect">
            <a:avLst/>
          </a:prstGeom>
          <a:noFill/>
          <a:ln/>
        </p:spPr>
        <p:txBody>
          <a:bodyPr wrap="square" lIns="0" tIns="0" rIns="0" bIns="0" rtlCol="0" anchor="ctr"/>
          <a:lstStyle/>
          <a:p>
            <a:pPr algn="ctr" indent="0" marL="0">
              <a:buNone/>
            </a:pPr>
            <a:r>
              <a:rPr lang="en-US" sz="1600" b="1" dirty="0">
                <a:solidFill>
                  <a:srgbClr val="1E2624"/>
                </a:solidFill>
                <a:latin typeface="DM Sans" pitchFamily="34" charset="0"/>
                <a:ea typeface="DM Sans" pitchFamily="34" charset="-122"/>
                <a:cs typeface="DM Sans" pitchFamily="34" charset="-120"/>
              </a:rPr>
              <a:t>per Thursday, 6 to 18 months</a:t>
            </a:r>
            <a:endParaRPr lang="en-US" sz="1600" dirty="0"/>
          </a:p>
        </p:txBody>
      </p:sp>
      <p:sp>
        <p:nvSpPr>
          <p:cNvPr id="16" name="Text 13"/>
          <p:cNvSpPr/>
          <p:nvPr/>
        </p:nvSpPr>
        <p:spPr>
          <a:xfrm>
            <a:off x="4297680" y="4498848"/>
            <a:ext cx="3520440" cy="411480"/>
          </a:xfrm>
          <a:prstGeom prst="rect">
            <a:avLst/>
          </a:prstGeom>
          <a:noFill/>
          <a:ln/>
        </p:spPr>
        <p:txBody>
          <a:bodyPr wrap="square" lIns="0" tIns="0" rIns="0" bIns="0" rtlCol="0" anchor="ctr"/>
          <a:lstStyle/>
          <a:p>
            <a:pPr algn="ctr" indent="0" marL="0">
              <a:buNone/>
            </a:pPr>
            <a:r>
              <a:rPr lang="en-US" sz="1500" dirty="0">
                <a:solidFill>
                  <a:srgbClr val="5D6663"/>
                </a:solidFill>
                <a:latin typeface="DM Sans" pitchFamily="34" charset="0"/>
                <a:ea typeface="DM Sans" pitchFamily="34" charset="-122"/>
                <a:cs typeface="DM Sans" pitchFamily="34" charset="-120"/>
              </a:rPr>
              <a:t>$113 a month, snacks included</a:t>
            </a:r>
            <a:endParaRPr lang="en-US" sz="1500" dirty="0"/>
          </a:p>
        </p:txBody>
      </p:sp>
      <p:sp>
        <p:nvSpPr>
          <p:cNvPr id="17" name="Shape 14"/>
          <p:cNvSpPr/>
          <p:nvPr/>
        </p:nvSpPr>
        <p:spPr>
          <a:xfrm>
            <a:off x="8046720" y="2377440"/>
            <a:ext cx="3520440" cy="2788920"/>
          </a:xfrm>
          <a:prstGeom prst="roundRect">
            <a:avLst>
              <a:gd name="adj" fmla="val 5902"/>
            </a:avLst>
          </a:prstGeom>
          <a:solidFill>
            <a:srgbClr val="FFFFFF"/>
          </a:solidFill>
          <a:ln w="12700">
            <a:solidFill>
              <a:srgbClr val="E8E2D3"/>
            </a:solidFill>
            <a:prstDash val="solid"/>
          </a:ln>
        </p:spPr>
      </p:sp>
      <p:sp>
        <p:nvSpPr>
          <p:cNvPr id="18" name="Text 15"/>
          <p:cNvSpPr/>
          <p:nvPr/>
        </p:nvSpPr>
        <p:spPr>
          <a:xfrm>
            <a:off x="8046720" y="2578608"/>
            <a:ext cx="3520440" cy="320040"/>
          </a:xfrm>
          <a:prstGeom prst="rect">
            <a:avLst/>
          </a:prstGeom>
          <a:noFill/>
          <a:ln/>
        </p:spPr>
        <p:txBody>
          <a:bodyPr wrap="square" lIns="0" tIns="0" rIns="0" bIns="0" rtlCol="0" anchor="ctr"/>
          <a:lstStyle/>
          <a:p>
            <a:pPr algn="ctr" indent="0" marL="0">
              <a:buNone/>
            </a:pPr>
            <a:r>
              <a:rPr lang="en-US" sz="1200" b="1" spc="300" kern="0" dirty="0">
                <a:solidFill>
                  <a:srgbClr val="2E8A80"/>
                </a:solidFill>
                <a:latin typeface="DM Sans" pitchFamily="34" charset="0"/>
                <a:ea typeface="DM Sans" pitchFamily="34" charset="-122"/>
                <a:cs typeface="DM Sans" pitchFamily="34" charset="-120"/>
              </a:rPr>
              <a:t>SNACKS AND SUPPLIES</a:t>
            </a:r>
            <a:endParaRPr lang="en-US" sz="1200" dirty="0"/>
          </a:p>
        </p:txBody>
      </p:sp>
      <p:sp>
        <p:nvSpPr>
          <p:cNvPr id="19" name="Text 16"/>
          <p:cNvSpPr/>
          <p:nvPr/>
        </p:nvSpPr>
        <p:spPr>
          <a:xfrm>
            <a:off x="8046720" y="2852928"/>
            <a:ext cx="3520440" cy="1188720"/>
          </a:xfrm>
          <a:prstGeom prst="rect">
            <a:avLst/>
          </a:prstGeom>
          <a:noFill/>
          <a:ln/>
        </p:spPr>
        <p:txBody>
          <a:bodyPr wrap="square" lIns="0" tIns="0" rIns="0" bIns="0" rtlCol="0" anchor="ctr"/>
          <a:lstStyle/>
          <a:p>
            <a:pPr algn="ctr" indent="0" marL="0">
              <a:buNone/>
            </a:pPr>
            <a:r>
              <a:rPr lang="en-US" sz="6000" dirty="0">
                <a:solidFill>
                  <a:srgbClr val="1E2624"/>
                </a:solidFill>
                <a:latin typeface="DM Serif Text" pitchFamily="34" charset="0"/>
                <a:ea typeface="DM Serif Text" pitchFamily="34" charset="-122"/>
                <a:cs typeface="DM Serif Text" pitchFamily="34" charset="-120"/>
              </a:rPr>
              <a:t>$13</a:t>
            </a:r>
            <a:endParaRPr lang="en-US" sz="6000" dirty="0"/>
          </a:p>
        </p:txBody>
      </p:sp>
      <p:sp>
        <p:nvSpPr>
          <p:cNvPr id="20" name="Text 17"/>
          <p:cNvSpPr/>
          <p:nvPr/>
        </p:nvSpPr>
        <p:spPr>
          <a:xfrm>
            <a:off x="8046720" y="4069080"/>
            <a:ext cx="3520440" cy="384048"/>
          </a:xfrm>
          <a:prstGeom prst="rect">
            <a:avLst/>
          </a:prstGeom>
          <a:noFill/>
          <a:ln/>
        </p:spPr>
        <p:txBody>
          <a:bodyPr wrap="square" lIns="0" tIns="0" rIns="0" bIns="0" rtlCol="0" anchor="ctr"/>
          <a:lstStyle/>
          <a:p>
            <a:pPr algn="ctr" indent="0" marL="0">
              <a:buNone/>
            </a:pPr>
            <a:r>
              <a:rPr lang="en-US" sz="1600" b="1" dirty="0">
                <a:solidFill>
                  <a:srgbClr val="1E2624"/>
                </a:solidFill>
                <a:latin typeface="DM Sans" pitchFamily="34" charset="0"/>
                <a:ea typeface="DM Sans" pitchFamily="34" charset="-122"/>
                <a:cs typeface="DM Sans" pitchFamily="34" charset="-120"/>
              </a:rPr>
              <a:t>a month, per child</a:t>
            </a:r>
            <a:endParaRPr lang="en-US" sz="1600" dirty="0"/>
          </a:p>
        </p:txBody>
      </p:sp>
      <p:sp>
        <p:nvSpPr>
          <p:cNvPr id="21" name="Text 18"/>
          <p:cNvSpPr/>
          <p:nvPr/>
        </p:nvSpPr>
        <p:spPr>
          <a:xfrm>
            <a:off x="8046720" y="4498848"/>
            <a:ext cx="3520440" cy="411480"/>
          </a:xfrm>
          <a:prstGeom prst="rect">
            <a:avLst/>
          </a:prstGeom>
          <a:noFill/>
          <a:ln/>
        </p:spPr>
        <p:txBody>
          <a:bodyPr wrap="square" lIns="0" tIns="0" rIns="0" bIns="0" rtlCol="0" anchor="ctr"/>
          <a:lstStyle/>
          <a:p>
            <a:pPr algn="ctr" indent="0" marL="0">
              <a:buNone/>
            </a:pPr>
            <a:r>
              <a:rPr lang="en-US" sz="1500" dirty="0">
                <a:solidFill>
                  <a:srgbClr val="5D6663"/>
                </a:solidFill>
                <a:latin typeface="DM Sans" pitchFamily="34" charset="0"/>
                <a:ea typeface="DM Sans" pitchFamily="34" charset="-122"/>
                <a:cs typeface="DM Sans" pitchFamily="34" charset="-120"/>
              </a:rPr>
              <a:t>Snacks, wipes, craft materials</a:t>
            </a:r>
            <a:endParaRPr lang="en-US" sz="1500" dirty="0"/>
          </a:p>
        </p:txBody>
      </p:sp>
      <p:sp>
        <p:nvSpPr>
          <p:cNvPr id="22" name="Text 19"/>
          <p:cNvSpPr/>
          <p:nvPr/>
        </p:nvSpPr>
        <p:spPr>
          <a:xfrm>
            <a:off x="548640" y="5440680"/>
            <a:ext cx="11064240" cy="457200"/>
          </a:xfrm>
          <a:prstGeom prst="rect">
            <a:avLst/>
          </a:prstGeom>
          <a:noFill/>
          <a:ln/>
        </p:spPr>
        <p:txBody>
          <a:bodyPr wrap="square" lIns="0" tIns="0" rIns="0" bIns="0" rtlCol="0" anchor="ctr"/>
          <a:lstStyle/>
          <a:p>
            <a:pPr indent="0" marL="0">
              <a:buNone/>
            </a:pPr>
            <a:r>
              <a:rPr lang="en-US" sz="1800" b="1" dirty="0">
                <a:solidFill>
                  <a:srgbClr val="2E8A80"/>
                </a:solidFill>
                <a:latin typeface="DM Sans" pitchFamily="34" charset="0"/>
                <a:ea typeface="DM Sans" pitchFamily="34" charset="-122"/>
                <a:cs typeface="DM Sans" pitchFamily="34" charset="-120"/>
              </a:rPr>
              <a:t>Pay by the 7th of each month. 10% off for siblings or paying in full.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09</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BUDGET</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No risk to the church</a:t>
            </a:r>
            <a:endParaRPr lang="en-US" sz="4000" dirty="0"/>
          </a:p>
        </p:txBody>
      </p:sp>
      <p:sp>
        <p:nvSpPr>
          <p:cNvPr id="7" name="Text 4"/>
          <p:cNvSpPr/>
          <p:nvPr/>
        </p:nvSpPr>
        <p:spPr>
          <a:xfrm>
            <a:off x="548640" y="2496312"/>
            <a:ext cx="2560320" cy="566928"/>
          </a:xfrm>
          <a:prstGeom prst="rect">
            <a:avLst/>
          </a:prstGeom>
          <a:noFill/>
          <a:ln/>
        </p:spPr>
        <p:txBody>
          <a:bodyPr wrap="square" lIns="0" tIns="0" rIns="0" bIns="0" rtlCol="0" anchor="ctr"/>
          <a:lstStyle/>
          <a:p>
            <a:pPr indent="0" marL="0">
              <a:buNone/>
            </a:pPr>
            <a:r>
              <a:rPr lang="en-US" sz="2800" dirty="0">
                <a:solidFill>
                  <a:srgbClr val="1E2624"/>
                </a:solidFill>
                <a:latin typeface="DM Serif Text" pitchFamily="34" charset="0"/>
                <a:ea typeface="DM Serif Text" pitchFamily="34" charset="-122"/>
                <a:cs typeface="DM Serif Text" pitchFamily="34" charset="-120"/>
              </a:rPr>
              <a:t>Low</a:t>
            </a:r>
            <a:endParaRPr lang="en-US" sz="2800" dirty="0"/>
          </a:p>
        </p:txBody>
      </p:sp>
      <p:sp>
        <p:nvSpPr>
          <p:cNvPr id="8" name="Text 5"/>
          <p:cNvSpPr/>
          <p:nvPr/>
        </p:nvSpPr>
        <p:spPr>
          <a:xfrm>
            <a:off x="548640" y="2999232"/>
            <a:ext cx="2560320" cy="36576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12 kids, 2 rooms</a:t>
            </a:r>
            <a:endParaRPr lang="en-US" sz="1400" dirty="0"/>
          </a:p>
        </p:txBody>
      </p:sp>
      <p:sp>
        <p:nvSpPr>
          <p:cNvPr id="9" name="Shape 6"/>
          <p:cNvSpPr/>
          <p:nvPr/>
        </p:nvSpPr>
        <p:spPr>
          <a:xfrm>
            <a:off x="3246120" y="2587752"/>
            <a:ext cx="2102849" cy="384048"/>
          </a:xfrm>
          <a:prstGeom prst="rect">
            <a:avLst/>
          </a:prstGeom>
          <a:solidFill>
            <a:srgbClr val="2E8B57"/>
          </a:solidFill>
          <a:ln w="12700">
            <a:solidFill>
              <a:srgbClr val="2E8B57"/>
            </a:solidFill>
            <a:prstDash val="solid"/>
          </a:ln>
        </p:spPr>
      </p:sp>
      <p:sp>
        <p:nvSpPr>
          <p:cNvPr id="10" name="Text 7"/>
          <p:cNvSpPr/>
          <p:nvPr/>
        </p:nvSpPr>
        <p:spPr>
          <a:xfrm>
            <a:off x="3355848" y="2587752"/>
            <a:ext cx="2743200" cy="384048"/>
          </a:xfrm>
          <a:prstGeom prst="rect">
            <a:avLst/>
          </a:prstGeom>
          <a:noFill/>
          <a:ln/>
        </p:spPr>
        <p:txBody>
          <a:bodyPr wrap="square" lIns="0" tIns="0" rIns="0" bIns="0"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Income $4,992</a:t>
            </a:r>
            <a:endParaRPr lang="en-US" sz="1500" dirty="0"/>
          </a:p>
        </p:txBody>
      </p:sp>
      <p:sp>
        <p:nvSpPr>
          <p:cNvPr id="11" name="Shape 8"/>
          <p:cNvSpPr/>
          <p:nvPr/>
        </p:nvSpPr>
        <p:spPr>
          <a:xfrm>
            <a:off x="5348969" y="2587752"/>
            <a:ext cx="1330288" cy="384048"/>
          </a:xfrm>
          <a:prstGeom prst="rect">
            <a:avLst/>
          </a:prstGeom>
          <a:solidFill>
            <a:srgbClr val="D9C187"/>
          </a:solidFill>
          <a:ln w="12700">
            <a:solidFill>
              <a:srgbClr val="D9C187"/>
            </a:solidFill>
            <a:prstDash val="solid"/>
          </a:ln>
        </p:spPr>
      </p:sp>
      <p:sp>
        <p:nvSpPr>
          <p:cNvPr id="12" name="Text 9"/>
          <p:cNvSpPr/>
          <p:nvPr/>
        </p:nvSpPr>
        <p:spPr>
          <a:xfrm>
            <a:off x="5348969" y="2587752"/>
            <a:ext cx="1330288" cy="384048"/>
          </a:xfrm>
          <a:prstGeom prst="rect">
            <a:avLst/>
          </a:prstGeom>
          <a:noFill/>
          <a:ln/>
        </p:spPr>
        <p:txBody>
          <a:bodyPr wrap="square" lIns="0" tIns="0" rIns="0" bIns="0" rtlCol="0" anchor="ctr"/>
          <a:lstStyle/>
          <a:p>
            <a:pPr algn="ctr" indent="0" marL="0">
              <a:buNone/>
            </a:pPr>
            <a:r>
              <a:rPr lang="en-US" sz="1400" b="1" dirty="0">
                <a:solidFill>
                  <a:srgbClr val="1E2624"/>
                </a:solidFill>
                <a:latin typeface="DM Sans" pitchFamily="34" charset="0"/>
                <a:ea typeface="DM Sans" pitchFamily="34" charset="-122"/>
                <a:cs typeface="DM Sans" pitchFamily="34" charset="-120"/>
              </a:rPr>
              <a:t>Donor</a:t>
            </a:r>
            <a:endParaRPr lang="en-US" sz="1400" dirty="0"/>
          </a:p>
        </p:txBody>
      </p:sp>
      <p:sp>
        <p:nvSpPr>
          <p:cNvPr id="13" name="Shape 10"/>
          <p:cNvSpPr/>
          <p:nvPr/>
        </p:nvSpPr>
        <p:spPr>
          <a:xfrm>
            <a:off x="3246120" y="3044952"/>
            <a:ext cx="3433137" cy="384048"/>
          </a:xfrm>
          <a:prstGeom prst="rect">
            <a:avLst/>
          </a:prstGeom>
          <a:solidFill>
            <a:srgbClr val="C0392B"/>
          </a:solidFill>
          <a:ln w="12700">
            <a:solidFill>
              <a:srgbClr val="C0392B"/>
            </a:solidFill>
            <a:prstDash val="solid"/>
          </a:ln>
        </p:spPr>
      </p:sp>
      <p:sp>
        <p:nvSpPr>
          <p:cNvPr id="14" name="Text 11"/>
          <p:cNvSpPr/>
          <p:nvPr/>
        </p:nvSpPr>
        <p:spPr>
          <a:xfrm>
            <a:off x="3355848" y="3044952"/>
            <a:ext cx="2743200" cy="384048"/>
          </a:xfrm>
          <a:prstGeom prst="rect">
            <a:avLst/>
          </a:prstGeom>
          <a:noFill/>
          <a:ln/>
        </p:spPr>
        <p:txBody>
          <a:bodyPr wrap="square" lIns="0" tIns="0" rIns="0" bIns="0"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Expenses $8,150</a:t>
            </a:r>
            <a:endParaRPr lang="en-US" sz="1500" dirty="0"/>
          </a:p>
        </p:txBody>
      </p:sp>
      <p:sp>
        <p:nvSpPr>
          <p:cNvPr id="15" name="Text 12"/>
          <p:cNvSpPr/>
          <p:nvPr/>
        </p:nvSpPr>
        <p:spPr>
          <a:xfrm>
            <a:off x="9692640" y="2523744"/>
            <a:ext cx="1920240" cy="548640"/>
          </a:xfrm>
          <a:prstGeom prst="rect">
            <a:avLst/>
          </a:prstGeom>
          <a:noFill/>
          <a:ln/>
        </p:spPr>
        <p:txBody>
          <a:bodyPr wrap="square" lIns="0" tIns="0" rIns="0" bIns="0" rtlCol="0" anchor="ctr"/>
          <a:lstStyle/>
          <a:p>
            <a:pPr algn="r" indent="0" marL="0">
              <a:buNone/>
            </a:pPr>
            <a:r>
              <a:rPr lang="en-US" sz="3000" dirty="0">
                <a:solidFill>
                  <a:srgbClr val="1E2624"/>
                </a:solidFill>
                <a:latin typeface="DM Serif Text" pitchFamily="34" charset="0"/>
                <a:ea typeface="DM Serif Text" pitchFamily="34" charset="-122"/>
                <a:cs typeface="DM Serif Text" pitchFamily="34" charset="-120"/>
              </a:rPr>
              <a:t>$0</a:t>
            </a:r>
            <a:endParaRPr lang="en-US" sz="3000" dirty="0"/>
          </a:p>
        </p:txBody>
      </p:sp>
      <p:sp>
        <p:nvSpPr>
          <p:cNvPr id="16" name="Text 13"/>
          <p:cNvSpPr/>
          <p:nvPr/>
        </p:nvSpPr>
        <p:spPr>
          <a:xfrm>
            <a:off x="9144000" y="3072384"/>
            <a:ext cx="2468880" cy="365760"/>
          </a:xfrm>
          <a:prstGeom prst="rect">
            <a:avLst/>
          </a:prstGeom>
          <a:noFill/>
          <a:ln/>
        </p:spPr>
        <p:txBody>
          <a:bodyPr wrap="square" lIns="0" tIns="0" rIns="0" bIns="0" rtlCol="0" anchor="ctr"/>
          <a:lstStyle/>
          <a:p>
            <a:pPr algn="r" indent="0" marL="0">
              <a:buNone/>
            </a:pPr>
            <a:r>
              <a:rPr lang="en-US" sz="1300" b="1" dirty="0">
                <a:solidFill>
                  <a:srgbClr val="5D6663"/>
                </a:solidFill>
                <a:latin typeface="DM Sans" pitchFamily="34" charset="0"/>
                <a:ea typeface="DM Sans" pitchFamily="34" charset="-122"/>
                <a:cs typeface="DM Sans" pitchFamily="34" charset="-120"/>
              </a:rPr>
              <a:t>Donor covers the $3,158 gap</a:t>
            </a:r>
            <a:endParaRPr lang="en-US" sz="1300" dirty="0"/>
          </a:p>
        </p:txBody>
      </p:sp>
      <p:sp>
        <p:nvSpPr>
          <p:cNvPr id="17" name="Text 14"/>
          <p:cNvSpPr/>
          <p:nvPr/>
        </p:nvSpPr>
        <p:spPr>
          <a:xfrm>
            <a:off x="548640" y="3739896"/>
            <a:ext cx="2560320" cy="566928"/>
          </a:xfrm>
          <a:prstGeom prst="rect">
            <a:avLst/>
          </a:prstGeom>
          <a:noFill/>
          <a:ln/>
        </p:spPr>
        <p:txBody>
          <a:bodyPr wrap="square" lIns="0" tIns="0" rIns="0" bIns="0" rtlCol="0" anchor="ctr"/>
          <a:lstStyle/>
          <a:p>
            <a:pPr indent="0" marL="0">
              <a:buNone/>
            </a:pPr>
            <a:r>
              <a:rPr lang="en-US" sz="2800" dirty="0">
                <a:solidFill>
                  <a:srgbClr val="1E2624"/>
                </a:solidFill>
                <a:latin typeface="DM Serif Text" pitchFamily="34" charset="0"/>
                <a:ea typeface="DM Serif Text" pitchFamily="34" charset="-122"/>
                <a:cs typeface="DM Serif Text" pitchFamily="34" charset="-120"/>
              </a:rPr>
              <a:t>Medium</a:t>
            </a:r>
            <a:endParaRPr lang="en-US" sz="2800" dirty="0"/>
          </a:p>
        </p:txBody>
      </p:sp>
      <p:sp>
        <p:nvSpPr>
          <p:cNvPr id="18" name="Text 15"/>
          <p:cNvSpPr/>
          <p:nvPr/>
        </p:nvSpPr>
        <p:spPr>
          <a:xfrm>
            <a:off x="548640" y="4242816"/>
            <a:ext cx="2560320" cy="36576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18 kids, 2 full rooms</a:t>
            </a:r>
            <a:endParaRPr lang="en-US" sz="1400" dirty="0"/>
          </a:p>
        </p:txBody>
      </p:sp>
      <p:sp>
        <p:nvSpPr>
          <p:cNvPr id="19" name="Shape 16"/>
          <p:cNvSpPr/>
          <p:nvPr/>
        </p:nvSpPr>
        <p:spPr>
          <a:xfrm>
            <a:off x="3246120" y="3831336"/>
            <a:ext cx="3154274" cy="384048"/>
          </a:xfrm>
          <a:prstGeom prst="rect">
            <a:avLst/>
          </a:prstGeom>
          <a:solidFill>
            <a:srgbClr val="2E8B57"/>
          </a:solidFill>
          <a:ln w="12700">
            <a:solidFill>
              <a:srgbClr val="2E8B57"/>
            </a:solidFill>
            <a:prstDash val="solid"/>
          </a:ln>
        </p:spPr>
      </p:sp>
      <p:sp>
        <p:nvSpPr>
          <p:cNvPr id="20" name="Text 17"/>
          <p:cNvSpPr/>
          <p:nvPr/>
        </p:nvSpPr>
        <p:spPr>
          <a:xfrm>
            <a:off x="3355848" y="3831336"/>
            <a:ext cx="2743200" cy="384048"/>
          </a:xfrm>
          <a:prstGeom prst="rect">
            <a:avLst/>
          </a:prstGeom>
          <a:noFill/>
          <a:ln/>
        </p:spPr>
        <p:txBody>
          <a:bodyPr wrap="square" lIns="0" tIns="0" rIns="0" bIns="0"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Income $7,488</a:t>
            </a:r>
            <a:endParaRPr lang="en-US" sz="1500" dirty="0"/>
          </a:p>
        </p:txBody>
      </p:sp>
      <p:sp>
        <p:nvSpPr>
          <p:cNvPr id="21" name="Shape 18"/>
          <p:cNvSpPr/>
          <p:nvPr/>
        </p:nvSpPr>
        <p:spPr>
          <a:xfrm>
            <a:off x="6400394" y="3831336"/>
            <a:ext cx="354687" cy="384048"/>
          </a:xfrm>
          <a:prstGeom prst="rect">
            <a:avLst/>
          </a:prstGeom>
          <a:solidFill>
            <a:srgbClr val="D9C187"/>
          </a:solidFill>
          <a:ln w="12700">
            <a:solidFill>
              <a:srgbClr val="D9C187"/>
            </a:solidFill>
            <a:prstDash val="solid"/>
          </a:ln>
        </p:spPr>
      </p:sp>
      <p:sp>
        <p:nvSpPr>
          <p:cNvPr id="22" name="Shape 19"/>
          <p:cNvSpPr/>
          <p:nvPr/>
        </p:nvSpPr>
        <p:spPr>
          <a:xfrm>
            <a:off x="3246120" y="4288536"/>
            <a:ext cx="3508961" cy="384048"/>
          </a:xfrm>
          <a:prstGeom prst="rect">
            <a:avLst/>
          </a:prstGeom>
          <a:solidFill>
            <a:srgbClr val="C0392B"/>
          </a:solidFill>
          <a:ln w="12700">
            <a:solidFill>
              <a:srgbClr val="C0392B"/>
            </a:solidFill>
            <a:prstDash val="solid"/>
          </a:ln>
        </p:spPr>
      </p:sp>
      <p:sp>
        <p:nvSpPr>
          <p:cNvPr id="23" name="Text 20"/>
          <p:cNvSpPr/>
          <p:nvPr/>
        </p:nvSpPr>
        <p:spPr>
          <a:xfrm>
            <a:off x="3355848" y="4288536"/>
            <a:ext cx="2743200" cy="384048"/>
          </a:xfrm>
          <a:prstGeom prst="rect">
            <a:avLst/>
          </a:prstGeom>
          <a:noFill/>
          <a:ln/>
        </p:spPr>
        <p:txBody>
          <a:bodyPr wrap="square" lIns="0" tIns="0" rIns="0" bIns="0"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Expenses $8,330</a:t>
            </a:r>
            <a:endParaRPr lang="en-US" sz="1500" dirty="0"/>
          </a:p>
        </p:txBody>
      </p:sp>
      <p:sp>
        <p:nvSpPr>
          <p:cNvPr id="24" name="Text 21"/>
          <p:cNvSpPr/>
          <p:nvPr/>
        </p:nvSpPr>
        <p:spPr>
          <a:xfrm>
            <a:off x="9692640" y="3767328"/>
            <a:ext cx="1920240" cy="548640"/>
          </a:xfrm>
          <a:prstGeom prst="rect">
            <a:avLst/>
          </a:prstGeom>
          <a:noFill/>
          <a:ln/>
        </p:spPr>
        <p:txBody>
          <a:bodyPr wrap="square" lIns="0" tIns="0" rIns="0" bIns="0" rtlCol="0" anchor="ctr"/>
          <a:lstStyle/>
          <a:p>
            <a:pPr algn="r" indent="0" marL="0">
              <a:buNone/>
            </a:pPr>
            <a:r>
              <a:rPr lang="en-US" sz="3000" dirty="0">
                <a:solidFill>
                  <a:srgbClr val="1E2624"/>
                </a:solidFill>
                <a:latin typeface="DM Serif Text" pitchFamily="34" charset="0"/>
                <a:ea typeface="DM Serif Text" pitchFamily="34" charset="-122"/>
                <a:cs typeface="DM Serif Text" pitchFamily="34" charset="-120"/>
              </a:rPr>
              <a:t>$0</a:t>
            </a:r>
            <a:endParaRPr lang="en-US" sz="3000" dirty="0"/>
          </a:p>
        </p:txBody>
      </p:sp>
      <p:sp>
        <p:nvSpPr>
          <p:cNvPr id="25" name="Text 22"/>
          <p:cNvSpPr/>
          <p:nvPr/>
        </p:nvSpPr>
        <p:spPr>
          <a:xfrm>
            <a:off x="9144000" y="4315968"/>
            <a:ext cx="2468880" cy="365760"/>
          </a:xfrm>
          <a:prstGeom prst="rect">
            <a:avLst/>
          </a:prstGeom>
          <a:noFill/>
          <a:ln/>
        </p:spPr>
        <p:txBody>
          <a:bodyPr wrap="square" lIns="0" tIns="0" rIns="0" bIns="0" rtlCol="0" anchor="ctr"/>
          <a:lstStyle/>
          <a:p>
            <a:pPr algn="r" indent="0" marL="0">
              <a:buNone/>
            </a:pPr>
            <a:r>
              <a:rPr lang="en-US" sz="1300" b="1" dirty="0">
                <a:solidFill>
                  <a:srgbClr val="5D6663"/>
                </a:solidFill>
                <a:latin typeface="DM Sans" pitchFamily="34" charset="0"/>
                <a:ea typeface="DM Sans" pitchFamily="34" charset="-122"/>
                <a:cs typeface="DM Sans" pitchFamily="34" charset="-120"/>
              </a:rPr>
              <a:t>Donor covers the $842 gap</a:t>
            </a:r>
            <a:endParaRPr lang="en-US" sz="1300" dirty="0"/>
          </a:p>
        </p:txBody>
      </p:sp>
      <p:sp>
        <p:nvSpPr>
          <p:cNvPr id="26" name="Text 23"/>
          <p:cNvSpPr/>
          <p:nvPr/>
        </p:nvSpPr>
        <p:spPr>
          <a:xfrm>
            <a:off x="548640" y="4983480"/>
            <a:ext cx="2560320" cy="566928"/>
          </a:xfrm>
          <a:prstGeom prst="rect">
            <a:avLst/>
          </a:prstGeom>
          <a:noFill/>
          <a:ln/>
        </p:spPr>
        <p:txBody>
          <a:bodyPr wrap="square" lIns="0" tIns="0" rIns="0" bIns="0" rtlCol="0" anchor="ctr"/>
          <a:lstStyle/>
          <a:p>
            <a:pPr indent="0" marL="0">
              <a:buNone/>
            </a:pPr>
            <a:r>
              <a:rPr lang="en-US" sz="2800" dirty="0">
                <a:solidFill>
                  <a:srgbClr val="1E2624"/>
                </a:solidFill>
                <a:latin typeface="DM Serif Text" pitchFamily="34" charset="0"/>
                <a:ea typeface="DM Serif Text" pitchFamily="34" charset="-122"/>
                <a:cs typeface="DM Serif Text" pitchFamily="34" charset="-120"/>
              </a:rPr>
              <a:t>High</a:t>
            </a:r>
            <a:endParaRPr lang="en-US" sz="2800" dirty="0"/>
          </a:p>
        </p:txBody>
      </p:sp>
      <p:sp>
        <p:nvSpPr>
          <p:cNvPr id="27" name="Text 24"/>
          <p:cNvSpPr/>
          <p:nvPr/>
        </p:nvSpPr>
        <p:spPr>
          <a:xfrm>
            <a:off x="548640" y="5486400"/>
            <a:ext cx="2560320" cy="365760"/>
          </a:xfrm>
          <a:prstGeom prst="rect">
            <a:avLst/>
          </a:prstGeom>
          <a:noFill/>
          <a:ln/>
        </p:spPr>
        <p:txBody>
          <a:bodyPr wrap="square" lIns="0" tIns="0" rIns="0" bIns="0" rtlCol="0" anchor="ctr"/>
          <a:lstStyle/>
          <a:p>
            <a:pPr indent="0" marL="0">
              <a:buNone/>
            </a:pPr>
            <a:r>
              <a:rPr lang="en-US" sz="1400" dirty="0">
                <a:solidFill>
                  <a:srgbClr val="5D6663"/>
                </a:solidFill>
                <a:latin typeface="DM Sans" pitchFamily="34" charset="0"/>
                <a:ea typeface="DM Sans" pitchFamily="34" charset="-122"/>
                <a:cs typeface="DM Sans" pitchFamily="34" charset="-120"/>
              </a:rPr>
              <a:t>30 kids, 3 full rooms</a:t>
            </a:r>
            <a:endParaRPr lang="en-US" sz="1400" dirty="0"/>
          </a:p>
        </p:txBody>
      </p:sp>
      <p:sp>
        <p:nvSpPr>
          <p:cNvPr id="28" name="Shape 25"/>
          <p:cNvSpPr/>
          <p:nvPr/>
        </p:nvSpPr>
        <p:spPr>
          <a:xfrm>
            <a:off x="3246120" y="5074920"/>
            <a:ext cx="5120640" cy="384048"/>
          </a:xfrm>
          <a:prstGeom prst="rect">
            <a:avLst/>
          </a:prstGeom>
          <a:solidFill>
            <a:srgbClr val="2E8B57"/>
          </a:solidFill>
          <a:ln w="12700">
            <a:solidFill>
              <a:srgbClr val="2E8B57"/>
            </a:solidFill>
            <a:prstDash val="solid"/>
          </a:ln>
        </p:spPr>
      </p:sp>
      <p:sp>
        <p:nvSpPr>
          <p:cNvPr id="29" name="Text 26"/>
          <p:cNvSpPr/>
          <p:nvPr/>
        </p:nvSpPr>
        <p:spPr>
          <a:xfrm>
            <a:off x="3355848" y="5074920"/>
            <a:ext cx="2743200" cy="384048"/>
          </a:xfrm>
          <a:prstGeom prst="rect">
            <a:avLst/>
          </a:prstGeom>
          <a:noFill/>
          <a:ln/>
        </p:spPr>
        <p:txBody>
          <a:bodyPr wrap="square" lIns="0" tIns="0" rIns="0" bIns="0"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Income $12,156</a:t>
            </a:r>
            <a:endParaRPr lang="en-US" sz="1500" dirty="0"/>
          </a:p>
        </p:txBody>
      </p:sp>
      <p:sp>
        <p:nvSpPr>
          <p:cNvPr id="30" name="Shape 27"/>
          <p:cNvSpPr/>
          <p:nvPr/>
        </p:nvSpPr>
        <p:spPr>
          <a:xfrm>
            <a:off x="3246120" y="5532120"/>
            <a:ext cx="4933608" cy="384048"/>
          </a:xfrm>
          <a:prstGeom prst="rect">
            <a:avLst/>
          </a:prstGeom>
          <a:solidFill>
            <a:srgbClr val="C0392B"/>
          </a:solidFill>
          <a:ln w="12700">
            <a:solidFill>
              <a:srgbClr val="C0392B"/>
            </a:solidFill>
            <a:prstDash val="solid"/>
          </a:ln>
        </p:spPr>
      </p:sp>
      <p:sp>
        <p:nvSpPr>
          <p:cNvPr id="31" name="Text 28"/>
          <p:cNvSpPr/>
          <p:nvPr/>
        </p:nvSpPr>
        <p:spPr>
          <a:xfrm>
            <a:off x="3355848" y="5532120"/>
            <a:ext cx="2743200" cy="384048"/>
          </a:xfrm>
          <a:prstGeom prst="rect">
            <a:avLst/>
          </a:prstGeom>
          <a:noFill/>
          <a:ln/>
        </p:spPr>
        <p:txBody>
          <a:bodyPr wrap="square" lIns="0" tIns="0" rIns="0" bIns="0" rtlCol="0" anchor="ctr"/>
          <a:lstStyle/>
          <a:p>
            <a:pPr indent="0" marL="0">
              <a:buNone/>
            </a:pPr>
            <a:r>
              <a:rPr lang="en-US" sz="1500" b="1" dirty="0">
                <a:solidFill>
                  <a:srgbClr val="FFFFFF"/>
                </a:solidFill>
                <a:latin typeface="DM Sans" pitchFamily="34" charset="0"/>
                <a:ea typeface="DM Sans" pitchFamily="34" charset="-122"/>
                <a:cs typeface="DM Sans" pitchFamily="34" charset="-120"/>
              </a:rPr>
              <a:t>Expenses $11,712</a:t>
            </a:r>
            <a:endParaRPr lang="en-US" sz="1500" dirty="0"/>
          </a:p>
        </p:txBody>
      </p:sp>
      <p:sp>
        <p:nvSpPr>
          <p:cNvPr id="32" name="Text 29"/>
          <p:cNvSpPr/>
          <p:nvPr/>
        </p:nvSpPr>
        <p:spPr>
          <a:xfrm>
            <a:off x="9692640" y="5010912"/>
            <a:ext cx="1920240" cy="548640"/>
          </a:xfrm>
          <a:prstGeom prst="rect">
            <a:avLst/>
          </a:prstGeom>
          <a:noFill/>
          <a:ln/>
        </p:spPr>
        <p:txBody>
          <a:bodyPr wrap="square" lIns="0" tIns="0" rIns="0" bIns="0" rtlCol="0" anchor="ctr"/>
          <a:lstStyle/>
          <a:p>
            <a:pPr algn="r" indent="0" marL="0">
              <a:buNone/>
            </a:pPr>
            <a:r>
              <a:rPr lang="en-US" sz="3000" dirty="0">
                <a:solidFill>
                  <a:srgbClr val="2E8B57"/>
                </a:solidFill>
                <a:latin typeface="DM Serif Text" pitchFamily="34" charset="0"/>
                <a:ea typeface="DM Serif Text" pitchFamily="34" charset="-122"/>
                <a:cs typeface="DM Serif Text" pitchFamily="34" charset="-120"/>
              </a:rPr>
              <a:t>+$444</a:t>
            </a:r>
            <a:endParaRPr lang="en-US" sz="3000" dirty="0"/>
          </a:p>
        </p:txBody>
      </p:sp>
      <p:sp>
        <p:nvSpPr>
          <p:cNvPr id="33" name="Text 30"/>
          <p:cNvSpPr/>
          <p:nvPr/>
        </p:nvSpPr>
        <p:spPr>
          <a:xfrm>
            <a:off x="9144000" y="5559552"/>
            <a:ext cx="2468880" cy="365760"/>
          </a:xfrm>
          <a:prstGeom prst="rect">
            <a:avLst/>
          </a:prstGeom>
          <a:noFill/>
          <a:ln/>
        </p:spPr>
        <p:txBody>
          <a:bodyPr wrap="square" lIns="0" tIns="0" rIns="0" bIns="0" rtlCol="0" anchor="ctr"/>
          <a:lstStyle/>
          <a:p>
            <a:pPr algn="r" indent="0" marL="0">
              <a:buNone/>
            </a:pPr>
            <a:r>
              <a:rPr lang="en-US" sz="1300" b="1" dirty="0">
                <a:solidFill>
                  <a:srgbClr val="2E8B57"/>
                </a:solidFill>
                <a:latin typeface="DM Sans" pitchFamily="34" charset="0"/>
                <a:ea typeface="DM Sans" pitchFamily="34" charset="-122"/>
                <a:cs typeface="DM Sans" pitchFamily="34" charset="-120"/>
              </a:rPr>
              <a:t>Pays for itself</a:t>
            </a:r>
            <a:endParaRPr lang="en-US" sz="1300" dirty="0"/>
          </a:p>
        </p:txBody>
      </p:sp>
      <p:sp>
        <p:nvSpPr>
          <p:cNvPr id="34" name="Text 31"/>
          <p:cNvSpPr/>
          <p:nvPr/>
        </p:nvSpPr>
        <p:spPr>
          <a:xfrm>
            <a:off x="548640" y="6035040"/>
            <a:ext cx="10972800" cy="274320"/>
          </a:xfrm>
          <a:prstGeom prst="rect">
            <a:avLst/>
          </a:prstGeom>
          <a:noFill/>
          <a:ln/>
        </p:spPr>
        <p:txBody>
          <a:bodyPr wrap="square" lIns="0" tIns="0" rIns="0" bIns="0" rtlCol="0" anchor="ctr"/>
          <a:lstStyle/>
          <a:p>
            <a:pPr indent="0" marL="0">
              <a:buNone/>
            </a:pPr>
            <a:r>
              <a:rPr lang="en-US" sz="1200" dirty="0">
                <a:solidFill>
                  <a:srgbClr val="5D6663"/>
                </a:solidFill>
                <a:latin typeface="DM Sans" pitchFamily="34" charset="0"/>
                <a:ea typeface="DM Sans" pitchFamily="34" charset="-122"/>
                <a:cs typeface="DM Sans" pitchFamily="34" charset="-120"/>
              </a:rPr>
              <a:t>Our donor covers any gap, so the church is never out a dollar. Per semester, after a 10% discount allowance. Low has 4 babies; medium and high have 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10</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BUDGET</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Semester P&amp;L</a:t>
            </a:r>
            <a:endParaRPr lang="en-US" sz="4000" dirty="0"/>
          </a:p>
        </p:txBody>
      </p:sp>
      <p:sp>
        <p:nvSpPr>
          <p:cNvPr id="7" name="Shape 4"/>
          <p:cNvSpPr/>
          <p:nvPr/>
        </p:nvSpPr>
        <p:spPr>
          <a:xfrm>
            <a:off x="8001000" y="1371600"/>
            <a:ext cx="3611880" cy="512064"/>
          </a:xfrm>
          <a:prstGeom prst="roundRect">
            <a:avLst>
              <a:gd name="adj" fmla="val 50000"/>
            </a:avLst>
          </a:prstGeom>
          <a:solidFill>
            <a:srgbClr val="40ACA1"/>
          </a:solidFill>
          <a:ln w="12700">
            <a:solidFill>
              <a:srgbClr val="40ACA1"/>
            </a:solidFill>
            <a:prstDash val="solid"/>
          </a:ln>
        </p:spPr>
      </p:sp>
      <p:sp>
        <p:nvSpPr>
          <p:cNvPr id="8" name="Text 5"/>
          <p:cNvSpPr/>
          <p:nvPr/>
        </p:nvSpPr>
        <p:spPr>
          <a:xfrm>
            <a:off x="8001000" y="1371600"/>
            <a:ext cx="3611880"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DM Sans" pitchFamily="34" charset="0"/>
                <a:ea typeface="DM Sans" pitchFamily="34" charset="-122"/>
                <a:cs typeface="DM Sans" pitchFamily="34" charset="-120"/>
              </a:rPr>
              <a:t>No risk to the church</a:t>
            </a:r>
            <a:endParaRPr lang="en-US" sz="17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4754880"/>
                <a:gridCol w="2103120"/>
                <a:gridCol w="2103120"/>
                <a:gridCol w="2103120"/>
              </a:tblGrid>
              <a:tr h="301752">
                <a:tc>
                  <a:txBody>
                    <a:bodyPr/>
                    <a:lstStyle/>
                    <a:p>
                      <a:pPr algn="l" indent="0" marL="0">
                        <a:buNone/>
                      </a:pPr>
                      <a:r>
                        <a:rPr lang="en-US" sz="1500" b="1" dirty="0">
                          <a:solidFill>
                            <a:srgbClr val="FFFFFF"/>
                          </a:solidFill>
                          <a:latin typeface="DM Sans" pitchFamily="34" charset="0"/>
                          <a:ea typeface="DM Sans" pitchFamily="34" charset="-122"/>
                          <a:cs typeface="DM Sans" pitchFamily="34" charset="-120"/>
                        </a:rPr>
                        <a:t>Per semester (18 Thursdays)</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c>
                  <a:txBody>
                    <a:bodyPr/>
                    <a:lstStyle/>
                    <a:p>
                      <a:pPr algn="r" indent="0" marL="0">
                        <a:buNone/>
                      </a:pPr>
                      <a:r>
                        <a:rPr lang="en-US" sz="1500" b="1" dirty="0">
                          <a:solidFill>
                            <a:srgbClr val="FFFFFF"/>
                          </a:solidFill>
                          <a:latin typeface="DM Sans" pitchFamily="34" charset="0"/>
                          <a:ea typeface="DM Sans" pitchFamily="34" charset="-122"/>
                          <a:cs typeface="DM Sans" pitchFamily="34" charset="-120"/>
                        </a:rPr>
                        <a:t>Low: 12 kids</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c>
                  <a:txBody>
                    <a:bodyPr/>
                    <a:lstStyle/>
                    <a:p>
                      <a:pPr algn="r" indent="0" marL="0">
                        <a:buNone/>
                      </a:pPr>
                      <a:r>
                        <a:rPr lang="en-US" sz="1500" b="1" dirty="0">
                          <a:solidFill>
                            <a:srgbClr val="FFFFFF"/>
                          </a:solidFill>
                          <a:latin typeface="DM Sans" pitchFamily="34" charset="0"/>
                          <a:ea typeface="DM Sans" pitchFamily="34" charset="-122"/>
                          <a:cs typeface="DM Sans" pitchFamily="34" charset="-120"/>
                        </a:rPr>
                        <a:t>Medium: 18 kids</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c>
                  <a:txBody>
                    <a:bodyPr/>
                    <a:lstStyle/>
                    <a:p>
                      <a:pPr algn="r" indent="0" marL="0">
                        <a:buNone/>
                      </a:pPr>
                      <a:r>
                        <a:rPr lang="en-US" sz="1500" b="1" dirty="0">
                          <a:solidFill>
                            <a:srgbClr val="FFFFFF"/>
                          </a:solidFill>
                          <a:latin typeface="DM Sans" pitchFamily="34" charset="0"/>
                          <a:ea typeface="DM Sans" pitchFamily="34" charset="-122"/>
                          <a:cs typeface="DM Sans" pitchFamily="34" charset="-120"/>
                        </a:rPr>
                        <a:t>High: 30 kids</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Tuition (x 18: $20 a day, $25 for babies)</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$4,680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$7,020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$11,340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Discounts (siblings, pay in full): 10%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C0392B"/>
                          </a:solidFill>
                          <a:latin typeface="DM Sans" pitchFamily="34" charset="0"/>
                          <a:ea typeface="DM Sans" pitchFamily="34" charset="-122"/>
                          <a:cs typeface="DM Sans" pitchFamily="34" charset="-120"/>
                        </a:rPr>
                        <a:t>-$468</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C0392B"/>
                          </a:solidFill>
                          <a:latin typeface="DM Sans" pitchFamily="34" charset="0"/>
                          <a:ea typeface="DM Sans" pitchFamily="34" charset="-122"/>
                          <a:cs typeface="DM Sans" pitchFamily="34" charset="-120"/>
                        </a:rPr>
                        <a:t>-$702</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C0392B"/>
                          </a:solidFill>
                          <a:latin typeface="DM Sans" pitchFamily="34" charset="0"/>
                          <a:ea typeface="DM Sans" pitchFamily="34" charset="-122"/>
                          <a:cs typeface="DM Sans" pitchFamily="34" charset="-120"/>
                        </a:rPr>
                        <a:t>-$1,134</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Snacks and supplies fee ($65 per child)</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$780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$1,170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$1,950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Donor support</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$3,158</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$842</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b="1" dirty="0">
                          <a:solidFill>
                            <a:srgbClr val="1E2624"/>
                          </a:solidFill>
                          <a:latin typeface="DM Sans" pitchFamily="34" charset="0"/>
                          <a:ea typeface="DM Sans" pitchFamily="34" charset="-122"/>
                          <a:cs typeface="DM Sans" pitchFamily="34" charset="-120"/>
                        </a:rPr>
                        <a:t>Total income</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c>
                  <a:txBody>
                    <a:bodyPr/>
                    <a:lstStyle/>
                    <a:p>
                      <a:pPr algn="r" indent="0" marL="0">
                        <a:buNone/>
                      </a:pPr>
                      <a:r>
                        <a:rPr lang="en-US" sz="1500" b="1" dirty="0">
                          <a:solidFill>
                            <a:srgbClr val="2E8B57"/>
                          </a:solidFill>
                          <a:latin typeface="DM Sans" pitchFamily="34" charset="0"/>
                          <a:ea typeface="DM Sans" pitchFamily="34" charset="-122"/>
                          <a:cs typeface="DM Sans" pitchFamily="34" charset="-120"/>
                        </a:rPr>
                        <a:t>$8,150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c>
                  <a:txBody>
                    <a:bodyPr/>
                    <a:lstStyle/>
                    <a:p>
                      <a:pPr algn="r" indent="0" marL="0">
                        <a:buNone/>
                      </a:pPr>
                      <a:r>
                        <a:rPr lang="en-US" sz="1500" b="1" dirty="0">
                          <a:solidFill>
                            <a:srgbClr val="2E8B57"/>
                          </a:solidFill>
                          <a:latin typeface="DM Sans" pitchFamily="34" charset="0"/>
                          <a:ea typeface="DM Sans" pitchFamily="34" charset="-122"/>
                          <a:cs typeface="DM Sans" pitchFamily="34" charset="-120"/>
                        </a:rPr>
                        <a:t>$8,330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c>
                  <a:txBody>
                    <a:bodyPr/>
                    <a:lstStyle/>
                    <a:p>
                      <a:pPr algn="r" indent="0" marL="0">
                        <a:buNone/>
                      </a:pPr>
                      <a:r>
                        <a:rPr lang="en-US" sz="1500" b="1" dirty="0">
                          <a:solidFill>
                            <a:srgbClr val="2E8B57"/>
                          </a:solidFill>
                          <a:latin typeface="DM Sans" pitchFamily="34" charset="0"/>
                          <a:ea typeface="DM Sans" pitchFamily="34" charset="-122"/>
                          <a:cs typeface="DM Sans" pitchFamily="34" charset="-120"/>
                        </a:rPr>
                        <a:t>$12,156</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Teachers ($13/hr x 6 hrs x 18 = $1,404 each)</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4 = $5,616</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4 = $5,616</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6 = $8,424</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Director ($15/hr x 6 hrs x 18)</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$1,620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$1,620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$1,620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Payroll taxes (7.65%)</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$554</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$554</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$768</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dirty="0">
                          <a:solidFill>
                            <a:srgbClr val="1E2624"/>
                          </a:solidFill>
                          <a:latin typeface="DM Sans" pitchFamily="34" charset="0"/>
                          <a:ea typeface="DM Sans" pitchFamily="34" charset="-122"/>
                          <a:cs typeface="DM Sans" pitchFamily="34" charset="-120"/>
                        </a:rPr>
                        <a:t>Supplies ($30 per child)</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$360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$540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E2624"/>
                          </a:solidFill>
                          <a:latin typeface="DM Sans" pitchFamily="34" charset="0"/>
                          <a:ea typeface="DM Sans" pitchFamily="34" charset="-122"/>
                          <a:cs typeface="DM Sans" pitchFamily="34" charset="-120"/>
                        </a:rPr>
                        <a:t>$900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01752">
                <a:tc>
                  <a:txBody>
                    <a:bodyPr/>
                    <a:lstStyle/>
                    <a:p>
                      <a:pPr indent="0" marL="0">
                        <a:buNone/>
                      </a:pPr>
                      <a:r>
                        <a:rPr lang="en-US" sz="1500" b="1" dirty="0">
                          <a:solidFill>
                            <a:srgbClr val="1E2624"/>
                          </a:solidFill>
                          <a:latin typeface="DM Sans" pitchFamily="34" charset="0"/>
                          <a:ea typeface="DM Sans" pitchFamily="34" charset="-122"/>
                          <a:cs typeface="DM Sans" pitchFamily="34" charset="-120"/>
                        </a:rPr>
                        <a:t>Total expenses</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c>
                  <a:txBody>
                    <a:bodyPr/>
                    <a:lstStyle/>
                    <a:p>
                      <a:pPr algn="r" indent="0" marL="0">
                        <a:buNone/>
                      </a:pPr>
                      <a:r>
                        <a:rPr lang="en-US" sz="1500" b="1" dirty="0">
                          <a:solidFill>
                            <a:srgbClr val="C0392B"/>
                          </a:solidFill>
                          <a:latin typeface="DM Sans" pitchFamily="34" charset="0"/>
                          <a:ea typeface="DM Sans" pitchFamily="34" charset="-122"/>
                          <a:cs typeface="DM Sans" pitchFamily="34" charset="-120"/>
                        </a:rPr>
                        <a:t>$8,150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c>
                  <a:txBody>
                    <a:bodyPr/>
                    <a:lstStyle/>
                    <a:p>
                      <a:pPr algn="r" indent="0" marL="0">
                        <a:buNone/>
                      </a:pPr>
                      <a:r>
                        <a:rPr lang="en-US" sz="1500" b="1" dirty="0">
                          <a:solidFill>
                            <a:srgbClr val="C0392B"/>
                          </a:solidFill>
                          <a:latin typeface="DM Sans" pitchFamily="34" charset="0"/>
                          <a:ea typeface="DM Sans" pitchFamily="34" charset="-122"/>
                          <a:cs typeface="DM Sans" pitchFamily="34" charset="-120"/>
                        </a:rPr>
                        <a:t>$8,330</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c>
                  <a:txBody>
                    <a:bodyPr/>
                    <a:lstStyle/>
                    <a:p>
                      <a:pPr algn="r" indent="0" marL="0">
                        <a:buNone/>
                      </a:pPr>
                      <a:r>
                        <a:rPr lang="en-US" sz="1500" b="1" dirty="0">
                          <a:solidFill>
                            <a:srgbClr val="C0392B"/>
                          </a:solidFill>
                          <a:latin typeface="DM Sans" pitchFamily="34" charset="0"/>
                          <a:ea typeface="DM Sans" pitchFamily="34" charset="-122"/>
                          <a:cs typeface="DM Sans" pitchFamily="34" charset="-120"/>
                        </a:rPr>
                        <a:t>$11,712</a:t>
                      </a:r>
                      <a:endParaRPr lang="en-US" sz="15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E8E2D3"/>
                    </a:solidFill>
                  </a:tcPr>
                </a:tc>
              </a:tr>
              <a:tr h="301752">
                <a:tc>
                  <a:txBody>
                    <a:bodyPr/>
                    <a:lstStyle/>
                    <a:p>
                      <a:pPr indent="0" marL="0">
                        <a:buNone/>
                      </a:pPr>
                      <a:r>
                        <a:rPr lang="en-US" sz="1800" b="1" dirty="0">
                          <a:solidFill>
                            <a:srgbClr val="1E2624"/>
                          </a:solidFill>
                          <a:latin typeface="DM Sans" pitchFamily="34" charset="0"/>
                          <a:ea typeface="DM Sans" pitchFamily="34" charset="-122"/>
                          <a:cs typeface="DM Sans" pitchFamily="34" charset="-120"/>
                        </a:rPr>
                        <a:t>Net</a:t>
                      </a:r>
                      <a:endParaRPr lang="en-US" sz="18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800" b="1" dirty="0">
                          <a:solidFill>
                            <a:srgbClr val="1E2624"/>
                          </a:solidFill>
                          <a:latin typeface="DM Sans" pitchFamily="34" charset="0"/>
                          <a:ea typeface="DM Sans" pitchFamily="34" charset="-122"/>
                          <a:cs typeface="DM Sans" pitchFamily="34" charset="-120"/>
                        </a:rPr>
                        <a:t>$0</a:t>
                      </a:r>
                      <a:endParaRPr lang="en-US" sz="18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800" b="1" dirty="0">
                          <a:solidFill>
                            <a:srgbClr val="1E2624"/>
                          </a:solidFill>
                          <a:latin typeface="DM Sans" pitchFamily="34" charset="0"/>
                          <a:ea typeface="DM Sans" pitchFamily="34" charset="-122"/>
                          <a:cs typeface="DM Sans" pitchFamily="34" charset="-120"/>
                        </a:rPr>
                        <a:t>$0</a:t>
                      </a:r>
                      <a:endParaRPr lang="en-US" sz="18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800" b="1" dirty="0">
                          <a:solidFill>
                            <a:srgbClr val="2E8B57"/>
                          </a:solidFill>
                          <a:latin typeface="DM Sans" pitchFamily="34" charset="0"/>
                          <a:ea typeface="DM Sans" pitchFamily="34" charset="-122"/>
                          <a:cs typeface="DM Sans" pitchFamily="34" charset="-120"/>
                        </a:rPr>
                        <a:t>+$444</a:t>
                      </a:r>
                      <a:endParaRPr lang="en-US" sz="1800" dirty="0">
                        <a:latin typeface="DM Sans" charset="0"/>
                        <a:ea typeface="DM Sans" charset="0"/>
                        <a:cs typeface="DM Sans" charset="0"/>
                      </a:endParaRPr>
                    </a:p>
                  </a:txBody>
                  <a:tcPr marL="109728" marR="109728" marT="18288" marB="18288">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11</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LONG-TERM PLAN</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Start low, then grow</a:t>
            </a:r>
            <a:endParaRPr lang="en-US" sz="4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2194560"/>
          <a:ext cx="11064240" cy="914400"/>
        </p:xfrm>
        <a:graphic>
          <a:graphicData uri="http://schemas.openxmlformats.org/drawingml/2006/table">
            <a:tbl>
              <a:tblPr/>
              <a:tblGrid>
                <a:gridCol w="3657600"/>
                <a:gridCol w="2468880"/>
                <a:gridCol w="2468880"/>
                <a:gridCol w="2468880"/>
              </a:tblGrid>
              <a:tr h="384048">
                <a:tc>
                  <a:txBody>
                    <a:bodyPr/>
                    <a:lstStyle/>
                    <a:p>
                      <a:pPr algn="l" indent="0" marL="0">
                        <a:buNone/>
                      </a:pPr>
                      <a:r>
                        <a:rPr lang="en-US" sz="1600" b="1" dirty="0">
                          <a:solidFill>
                            <a:srgbClr val="FFFFFF"/>
                          </a:solidFill>
                          <a:latin typeface="DM Sans" pitchFamily="34" charset="0"/>
                          <a:ea typeface="DM Sans" pitchFamily="34" charset="-122"/>
                          <a:cs typeface="DM Sans" pitchFamily="34" charset="-120"/>
                        </a:rPr>
                        <a:t>Per semester</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c>
                  <a:txBody>
                    <a:bodyPr/>
                    <a:lstStyle/>
                    <a:p>
                      <a:pPr algn="r" indent="0" marL="0">
                        <a:buNone/>
                      </a:pPr>
                      <a:r>
                        <a:rPr lang="en-US" sz="1600" b="1" dirty="0">
                          <a:solidFill>
                            <a:srgbClr val="FFFFFF"/>
                          </a:solidFill>
                          <a:latin typeface="DM Sans" pitchFamily="34" charset="0"/>
                          <a:ea typeface="DM Sans" pitchFamily="34" charset="-122"/>
                          <a:cs typeface="DM Sans" pitchFamily="34" charset="-120"/>
                        </a:rPr>
                        <a:t>Spring 2027</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c>
                  <a:txBody>
                    <a:bodyPr/>
                    <a:lstStyle/>
                    <a:p>
                      <a:pPr algn="r" indent="0" marL="0">
                        <a:buNone/>
                      </a:pPr>
                      <a:r>
                        <a:rPr lang="en-US" sz="1600" b="1" dirty="0">
                          <a:solidFill>
                            <a:srgbClr val="FFFFFF"/>
                          </a:solidFill>
                          <a:latin typeface="DM Sans" pitchFamily="34" charset="0"/>
                          <a:ea typeface="DM Sans" pitchFamily="34" charset="-122"/>
                          <a:cs typeface="DM Sans" pitchFamily="34" charset="-120"/>
                        </a:rPr>
                        <a:t>Fall 2027</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c>
                  <a:txBody>
                    <a:bodyPr/>
                    <a:lstStyle/>
                    <a:p>
                      <a:pPr algn="r" indent="0" marL="0">
                        <a:buNone/>
                      </a:pPr>
                      <a:r>
                        <a:rPr lang="en-US" sz="1600" b="1" dirty="0">
                          <a:solidFill>
                            <a:srgbClr val="FFFFFF"/>
                          </a:solidFill>
                          <a:latin typeface="DM Sans" pitchFamily="34" charset="0"/>
                          <a:ea typeface="DM Sans" pitchFamily="34" charset="-122"/>
                          <a:cs typeface="DM Sans" pitchFamily="34" charset="-120"/>
                        </a:rPr>
                        <a:t>Spring 2028</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1E2624"/>
                    </a:solidFill>
                  </a:tcPr>
                </a:tc>
              </a:tr>
              <a:tr h="384048">
                <a:tc>
                  <a:txBody>
                    <a:bodyPr/>
                    <a:lstStyle/>
                    <a:p>
                      <a:pPr indent="0" marL="0">
                        <a:buNone/>
                      </a:pPr>
                      <a:r>
                        <a:rPr lang="en-US" sz="1600" dirty="0">
                          <a:solidFill>
                            <a:srgbClr val="1E2624"/>
                          </a:solidFill>
                          <a:latin typeface="DM Sans" pitchFamily="34" charset="0"/>
                          <a:ea typeface="DM Sans" pitchFamily="34" charset="-122"/>
                          <a:cs typeface="DM Sans" pitchFamily="34" charset="-120"/>
                        </a:rPr>
                        <a:t>New families pay a day</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$20, babies $25</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$25, babies $30</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$25, babies $30</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E2624"/>
                          </a:solidFill>
                          <a:latin typeface="DM Sans" pitchFamily="34" charset="0"/>
                          <a:ea typeface="DM Sans" pitchFamily="34" charset="-122"/>
                          <a:cs typeface="DM Sans" pitchFamily="34" charset="-120"/>
                        </a:rPr>
                        <a:t>Kids</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30 founding</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+12 new = 42</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+12 new = 54</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E2624"/>
                          </a:solidFill>
                          <a:latin typeface="DM Sans" pitchFamily="34" charset="0"/>
                          <a:ea typeface="DM Sans" pitchFamily="34" charset="-122"/>
                          <a:cs typeface="DM Sans" pitchFamily="34" charset="-120"/>
                        </a:rPr>
                        <a:t>Teachers</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6</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8</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10</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E2624"/>
                          </a:solidFill>
                          <a:latin typeface="DM Sans" pitchFamily="34" charset="0"/>
                          <a:ea typeface="DM Sans" pitchFamily="34" charset="-122"/>
                          <a:cs typeface="DM Sans" pitchFamily="34" charset="-120"/>
                        </a:rPr>
                        <a:t>Income</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$12,156</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$17,796</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$23,436</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1E2624"/>
                          </a:solidFill>
                          <a:latin typeface="DM Sans" pitchFamily="34" charset="0"/>
                          <a:ea typeface="DM Sans" pitchFamily="34" charset="-122"/>
                          <a:cs typeface="DM Sans" pitchFamily="34" charset="-120"/>
                        </a:rPr>
                        <a:t>Expenses</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$11,712</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$15,095</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E2624"/>
                          </a:solidFill>
                          <a:latin typeface="DM Sans" pitchFamily="34" charset="0"/>
                          <a:ea typeface="DM Sans" pitchFamily="34" charset="-122"/>
                          <a:cs typeface="DM Sans" pitchFamily="34" charset="-120"/>
                        </a:rPr>
                        <a:t>$18,478</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84048">
                <a:tc>
                  <a:txBody>
                    <a:bodyPr/>
                    <a:lstStyle/>
                    <a:p>
                      <a:pPr indent="0" marL="0">
                        <a:buNone/>
                      </a:pPr>
                      <a:r>
                        <a:rPr lang="en-US" sz="2000" b="1" dirty="0">
                          <a:solidFill>
                            <a:srgbClr val="1E2624"/>
                          </a:solidFill>
                          <a:latin typeface="DM Sans" pitchFamily="34" charset="0"/>
                          <a:ea typeface="DM Sans" pitchFamily="34" charset="-122"/>
                          <a:cs typeface="DM Sans" pitchFamily="34" charset="-120"/>
                        </a:rPr>
                        <a:t>Profit</a:t>
                      </a:r>
                      <a:endParaRPr lang="en-US" sz="20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2000" b="1" dirty="0">
                          <a:solidFill>
                            <a:srgbClr val="2E8B57"/>
                          </a:solidFill>
                          <a:latin typeface="DM Sans" pitchFamily="34" charset="0"/>
                          <a:ea typeface="DM Sans" pitchFamily="34" charset="-122"/>
                          <a:cs typeface="DM Sans" pitchFamily="34" charset="-120"/>
                        </a:rPr>
                        <a:t>+$444</a:t>
                      </a:r>
                      <a:endParaRPr lang="en-US" sz="20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2000" b="1" dirty="0">
                          <a:solidFill>
                            <a:srgbClr val="2E8B57"/>
                          </a:solidFill>
                          <a:latin typeface="DM Sans" pitchFamily="34" charset="0"/>
                          <a:ea typeface="DM Sans" pitchFamily="34" charset="-122"/>
                          <a:cs typeface="DM Sans" pitchFamily="34" charset="-120"/>
                        </a:rPr>
                        <a:t>+$2,701</a:t>
                      </a:r>
                      <a:endParaRPr lang="en-US" sz="20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2000" b="1" dirty="0">
                          <a:solidFill>
                            <a:srgbClr val="2E8B57"/>
                          </a:solidFill>
                          <a:latin typeface="DM Sans" pitchFamily="34" charset="0"/>
                          <a:ea typeface="DM Sans" pitchFamily="34" charset="-122"/>
                          <a:cs typeface="DM Sans" pitchFamily="34" charset="-120"/>
                        </a:rPr>
                        <a:t>+$4,958</a:t>
                      </a:r>
                      <a:endParaRPr lang="en-US" sz="20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r h="384048">
                <a:tc>
                  <a:txBody>
                    <a:bodyPr/>
                    <a:lstStyle/>
                    <a:p>
                      <a:pPr indent="0" marL="0">
                        <a:buNone/>
                      </a:pPr>
                      <a:r>
                        <a:rPr lang="en-US" sz="1600" dirty="0">
                          <a:solidFill>
                            <a:srgbClr val="5D6663"/>
                          </a:solidFill>
                          <a:latin typeface="DM Sans" pitchFamily="34" charset="0"/>
                          <a:ea typeface="DM Sans" pitchFamily="34" charset="-122"/>
                          <a:cs typeface="DM Sans" pitchFamily="34" charset="-120"/>
                        </a:rPr>
                        <a:t>Running total</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5D6663"/>
                          </a:solidFill>
                          <a:latin typeface="DM Sans" pitchFamily="34" charset="0"/>
                          <a:ea typeface="DM Sans" pitchFamily="34" charset="-122"/>
                          <a:cs typeface="DM Sans" pitchFamily="34" charset="-120"/>
                        </a:rPr>
                        <a:t>+$444</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5D6663"/>
                          </a:solidFill>
                          <a:latin typeface="DM Sans" pitchFamily="34" charset="0"/>
                          <a:ea typeface="DM Sans" pitchFamily="34" charset="-122"/>
                          <a:cs typeface="DM Sans" pitchFamily="34" charset="-120"/>
                        </a:rPr>
                        <a:t>+$3,145</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5D6663"/>
                          </a:solidFill>
                          <a:latin typeface="DM Sans" pitchFamily="34" charset="0"/>
                          <a:ea typeface="DM Sans" pitchFamily="34" charset="-122"/>
                          <a:cs typeface="DM Sans" pitchFamily="34" charset="-120"/>
                        </a:rPr>
                        <a:t>+$8,103</a:t>
                      </a:r>
                      <a:endParaRPr lang="en-US" sz="1600" dirty="0">
                        <a:latin typeface="DM Sans" charset="0"/>
                        <a:ea typeface="DM Sans" charset="0"/>
                        <a:cs typeface="DM Sans" charset="0"/>
                      </a:endParaRPr>
                    </a:p>
                  </a:txBody>
                  <a:tcPr marL="128016" marR="128016" marT="18288" marB="18288" anchor="ctr">
                    <a:lnL w="9525" cap="flat" cmpd="sng" algn="ctr">
                      <a:solidFill>
                        <a:srgbClr val="E8E2D3"/>
                      </a:solidFill>
                      <a:prstDash val="solid"/>
                      <a:round/>
                      <a:headEnd type="none" w="med" len="med"/>
                      <a:tailEnd type="none" w="med" len="med"/>
                    </a:lnL>
                    <a:lnR w="9525" cap="flat" cmpd="sng" algn="ctr">
                      <a:solidFill>
                        <a:srgbClr val="E8E2D3"/>
                      </a:solidFill>
                      <a:prstDash val="solid"/>
                      <a:round/>
                      <a:headEnd type="none" w="med" len="med"/>
                      <a:tailEnd type="none" w="med" len="med"/>
                    </a:lnR>
                    <a:lnT w="9525" cap="flat" cmpd="sng" algn="ctr">
                      <a:solidFill>
                        <a:srgbClr val="E8E2D3"/>
                      </a:solidFill>
                      <a:prstDash val="solid"/>
                      <a:round/>
                      <a:headEnd type="none" w="med" len="med"/>
                      <a:tailEnd type="none" w="med" len="med"/>
                    </a:lnT>
                    <a:lnB w="9525" cap="flat" cmpd="sng" algn="ctr">
                      <a:solidFill>
                        <a:srgbClr val="E8E2D3"/>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5486400"/>
            <a:ext cx="11064240" cy="365760"/>
          </a:xfrm>
          <a:prstGeom prst="rect">
            <a:avLst/>
          </a:prstGeom>
          <a:noFill/>
          <a:ln/>
        </p:spPr>
        <p:txBody>
          <a:bodyPr wrap="square" lIns="0" tIns="0" rIns="0" bIns="0" rtlCol="0" anchor="ctr"/>
          <a:lstStyle/>
          <a:p>
            <a:pPr indent="0" marL="0">
              <a:buNone/>
            </a:pPr>
            <a:r>
              <a:rPr lang="en-US" sz="1800" b="1" dirty="0">
                <a:solidFill>
                  <a:srgbClr val="2E8A80"/>
                </a:solidFill>
                <a:latin typeface="DM Sans" pitchFamily="34" charset="0"/>
                <a:ea typeface="DM Sans" pitchFamily="34" charset="-122"/>
                <a:cs typeface="DM Sans" pitchFamily="34" charset="-120"/>
              </a:rPr>
              <a:t>Founding families keep $20 a day ($25 for babies) while their child is enrolled.</a:t>
            </a:r>
            <a:endParaRPr lang="en-US" sz="1800" dirty="0"/>
          </a:p>
        </p:txBody>
      </p:sp>
      <p:sp>
        <p:nvSpPr>
          <p:cNvPr id="9" name="Text 5"/>
          <p:cNvSpPr/>
          <p:nvPr/>
        </p:nvSpPr>
        <p:spPr>
          <a:xfrm>
            <a:off x="548640" y="5852160"/>
            <a:ext cx="11064240" cy="365760"/>
          </a:xfrm>
          <a:prstGeom prst="rect">
            <a:avLst/>
          </a:prstGeom>
          <a:noFill/>
          <a:ln/>
        </p:spPr>
        <p:txBody>
          <a:bodyPr wrap="square" lIns="0" tIns="0" rIns="0" bIns="0" rtlCol="0" anchor="ctr"/>
          <a:lstStyle/>
          <a:p>
            <a:pPr indent="0" marL="0">
              <a:buNone/>
            </a:pPr>
            <a:r>
              <a:rPr lang="en-US" sz="1500" dirty="0">
                <a:solidFill>
                  <a:srgbClr val="5D6663"/>
                </a:solidFill>
                <a:latin typeface="DM Sans" pitchFamily="34" charset="0"/>
                <a:ea typeface="DM Sans" pitchFamily="34" charset="-122"/>
                <a:cs typeface="DM Sans" pitchFamily="34" charset="-120"/>
              </a:rPr>
              <a:t>Prices top out at $25 a day ($30 for babies). If enrollment is low, our donor covers the gap.</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12</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CHURCH SUPPORT</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What we need from the church</a:t>
            </a:r>
            <a:endParaRPr lang="en-US" sz="4000" dirty="0"/>
          </a:p>
        </p:txBody>
      </p:sp>
      <p:sp>
        <p:nvSpPr>
          <p:cNvPr id="7" name="Shape 4"/>
          <p:cNvSpPr/>
          <p:nvPr/>
        </p:nvSpPr>
        <p:spPr>
          <a:xfrm>
            <a:off x="548640" y="2560320"/>
            <a:ext cx="502920" cy="502920"/>
          </a:xfrm>
          <a:prstGeom prst="ellipse">
            <a:avLst/>
          </a:prstGeom>
          <a:solidFill>
            <a:srgbClr val="40ACA1"/>
          </a:solidFill>
          <a:ln w="12700">
            <a:solidFill>
              <a:srgbClr val="40ACA1"/>
            </a:solidFill>
            <a:prstDash val="solid"/>
          </a:ln>
        </p:spPr>
      </p:sp>
      <p:sp>
        <p:nvSpPr>
          <p:cNvPr id="8" name="Text 5"/>
          <p:cNvSpPr/>
          <p:nvPr/>
        </p:nvSpPr>
        <p:spPr>
          <a:xfrm>
            <a:off x="548640" y="2560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1</a:t>
            </a:r>
            <a:endParaRPr lang="en-US" sz="1600" dirty="0"/>
          </a:p>
        </p:txBody>
      </p:sp>
      <p:sp>
        <p:nvSpPr>
          <p:cNvPr id="9" name="Text 6"/>
          <p:cNvSpPr/>
          <p:nvPr/>
        </p:nvSpPr>
        <p:spPr>
          <a:xfrm>
            <a:off x="1280160" y="2514600"/>
            <a:ext cx="4754880" cy="59436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The church owns KDO</a:t>
            </a:r>
            <a:endParaRPr lang="en-US" sz="2200" dirty="0"/>
          </a:p>
        </p:txBody>
      </p:sp>
      <p:sp>
        <p:nvSpPr>
          <p:cNvPr id="10" name="Shape 7"/>
          <p:cNvSpPr/>
          <p:nvPr/>
        </p:nvSpPr>
        <p:spPr>
          <a:xfrm>
            <a:off x="548640" y="3611880"/>
            <a:ext cx="502920" cy="502920"/>
          </a:xfrm>
          <a:prstGeom prst="ellipse">
            <a:avLst/>
          </a:prstGeom>
          <a:solidFill>
            <a:srgbClr val="40ACA1"/>
          </a:solidFill>
          <a:ln w="12700">
            <a:solidFill>
              <a:srgbClr val="40ACA1"/>
            </a:solidFill>
            <a:prstDash val="solid"/>
          </a:ln>
        </p:spPr>
      </p:sp>
      <p:sp>
        <p:nvSpPr>
          <p:cNvPr id="11" name="Text 8"/>
          <p:cNvSpPr/>
          <p:nvPr/>
        </p:nvSpPr>
        <p:spPr>
          <a:xfrm>
            <a:off x="548640" y="36118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2</a:t>
            </a:r>
            <a:endParaRPr lang="en-US" sz="1600" dirty="0"/>
          </a:p>
        </p:txBody>
      </p:sp>
      <p:sp>
        <p:nvSpPr>
          <p:cNvPr id="12" name="Text 9"/>
          <p:cNvSpPr/>
          <p:nvPr/>
        </p:nvSpPr>
        <p:spPr>
          <a:xfrm>
            <a:off x="1280160" y="3566160"/>
            <a:ext cx="4754880" cy="59436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Background checks</a:t>
            </a:r>
            <a:endParaRPr lang="en-US" sz="2200" dirty="0"/>
          </a:p>
        </p:txBody>
      </p:sp>
      <p:sp>
        <p:nvSpPr>
          <p:cNvPr id="13" name="Shape 10"/>
          <p:cNvSpPr/>
          <p:nvPr/>
        </p:nvSpPr>
        <p:spPr>
          <a:xfrm>
            <a:off x="548640" y="4663440"/>
            <a:ext cx="502920" cy="502920"/>
          </a:xfrm>
          <a:prstGeom prst="ellipse">
            <a:avLst/>
          </a:prstGeom>
          <a:solidFill>
            <a:srgbClr val="40ACA1"/>
          </a:solidFill>
          <a:ln w="12700">
            <a:solidFill>
              <a:srgbClr val="40ACA1"/>
            </a:solidFill>
            <a:prstDash val="solid"/>
          </a:ln>
        </p:spPr>
      </p:sp>
      <p:sp>
        <p:nvSpPr>
          <p:cNvPr id="14" name="Text 11"/>
          <p:cNvSpPr/>
          <p:nvPr/>
        </p:nvSpPr>
        <p:spPr>
          <a:xfrm>
            <a:off x="548640" y="4663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3</a:t>
            </a:r>
            <a:endParaRPr lang="en-US" sz="1600" dirty="0"/>
          </a:p>
        </p:txBody>
      </p:sp>
      <p:sp>
        <p:nvSpPr>
          <p:cNvPr id="15" name="Text 12"/>
          <p:cNvSpPr/>
          <p:nvPr/>
        </p:nvSpPr>
        <p:spPr>
          <a:xfrm>
            <a:off x="1280160" y="4617720"/>
            <a:ext cx="4754880" cy="59436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Payroll, tuition, and insurance</a:t>
            </a:r>
            <a:endParaRPr lang="en-US" sz="2200" dirty="0"/>
          </a:p>
        </p:txBody>
      </p:sp>
      <p:sp>
        <p:nvSpPr>
          <p:cNvPr id="16" name="Shape 13"/>
          <p:cNvSpPr/>
          <p:nvPr/>
        </p:nvSpPr>
        <p:spPr>
          <a:xfrm>
            <a:off x="6217920" y="2560320"/>
            <a:ext cx="502920" cy="502920"/>
          </a:xfrm>
          <a:prstGeom prst="ellipse">
            <a:avLst/>
          </a:prstGeom>
          <a:solidFill>
            <a:srgbClr val="40ACA1"/>
          </a:solidFill>
          <a:ln w="12700">
            <a:solidFill>
              <a:srgbClr val="40ACA1"/>
            </a:solidFill>
            <a:prstDash val="solid"/>
          </a:ln>
        </p:spPr>
      </p:sp>
      <p:sp>
        <p:nvSpPr>
          <p:cNvPr id="17" name="Text 14"/>
          <p:cNvSpPr/>
          <p:nvPr/>
        </p:nvSpPr>
        <p:spPr>
          <a:xfrm>
            <a:off x="6217920" y="25603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4</a:t>
            </a:r>
            <a:endParaRPr lang="en-US" sz="1600" dirty="0"/>
          </a:p>
        </p:txBody>
      </p:sp>
      <p:sp>
        <p:nvSpPr>
          <p:cNvPr id="18" name="Text 15"/>
          <p:cNvSpPr/>
          <p:nvPr/>
        </p:nvSpPr>
        <p:spPr>
          <a:xfrm>
            <a:off x="6949440" y="2514600"/>
            <a:ext cx="4754880" cy="59436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Use of the check-in system</a:t>
            </a:r>
            <a:endParaRPr lang="en-US" sz="2200" dirty="0"/>
          </a:p>
        </p:txBody>
      </p:sp>
      <p:sp>
        <p:nvSpPr>
          <p:cNvPr id="19" name="Shape 16"/>
          <p:cNvSpPr/>
          <p:nvPr/>
        </p:nvSpPr>
        <p:spPr>
          <a:xfrm>
            <a:off x="6217920" y="3611880"/>
            <a:ext cx="502920" cy="502920"/>
          </a:xfrm>
          <a:prstGeom prst="ellipse">
            <a:avLst/>
          </a:prstGeom>
          <a:solidFill>
            <a:srgbClr val="40ACA1"/>
          </a:solidFill>
          <a:ln w="12700">
            <a:solidFill>
              <a:srgbClr val="40ACA1"/>
            </a:solidFill>
            <a:prstDash val="solid"/>
          </a:ln>
        </p:spPr>
      </p:sp>
      <p:sp>
        <p:nvSpPr>
          <p:cNvPr id="20" name="Text 17"/>
          <p:cNvSpPr/>
          <p:nvPr/>
        </p:nvSpPr>
        <p:spPr>
          <a:xfrm>
            <a:off x="6217920" y="36118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5</a:t>
            </a:r>
            <a:endParaRPr lang="en-US" sz="1600" dirty="0"/>
          </a:p>
        </p:txBody>
      </p:sp>
      <p:sp>
        <p:nvSpPr>
          <p:cNvPr id="21" name="Text 18"/>
          <p:cNvSpPr/>
          <p:nvPr/>
        </p:nvSpPr>
        <p:spPr>
          <a:xfrm>
            <a:off x="6949440" y="3566160"/>
            <a:ext cx="4754880" cy="59436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The kdo@firstalma.com email</a:t>
            </a:r>
            <a:endParaRPr lang="en-US" sz="2200" dirty="0"/>
          </a:p>
        </p:txBody>
      </p:sp>
      <p:sp>
        <p:nvSpPr>
          <p:cNvPr id="22" name="Shape 19"/>
          <p:cNvSpPr/>
          <p:nvPr/>
        </p:nvSpPr>
        <p:spPr>
          <a:xfrm>
            <a:off x="6217920" y="4663440"/>
            <a:ext cx="502920" cy="502920"/>
          </a:xfrm>
          <a:prstGeom prst="ellipse">
            <a:avLst/>
          </a:prstGeom>
          <a:solidFill>
            <a:srgbClr val="40ACA1"/>
          </a:solidFill>
          <a:ln w="12700">
            <a:solidFill>
              <a:srgbClr val="40ACA1"/>
            </a:solidFill>
            <a:prstDash val="solid"/>
          </a:ln>
        </p:spPr>
      </p:sp>
      <p:sp>
        <p:nvSpPr>
          <p:cNvPr id="23" name="Text 20"/>
          <p:cNvSpPr/>
          <p:nvPr/>
        </p:nvSpPr>
        <p:spPr>
          <a:xfrm>
            <a:off x="6217920" y="4663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DM Sans" pitchFamily="34" charset="0"/>
                <a:ea typeface="DM Sans" pitchFamily="34" charset="-122"/>
                <a:cs typeface="DM Sans" pitchFamily="34" charset="-120"/>
              </a:rPr>
              <a:t>6</a:t>
            </a:r>
            <a:endParaRPr lang="en-US" sz="1600" dirty="0"/>
          </a:p>
        </p:txBody>
      </p:sp>
      <p:sp>
        <p:nvSpPr>
          <p:cNvPr id="24" name="Text 21"/>
          <p:cNvSpPr/>
          <p:nvPr/>
        </p:nvSpPr>
        <p:spPr>
          <a:xfrm>
            <a:off x="6949440" y="4617720"/>
            <a:ext cx="4754880" cy="59436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Classroom space, left clean</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EEE3"/>
        </a:solidFill>
      </p:bgPr>
    </p:bg>
    <p:spTree>
      <p:nvGrpSpPr>
        <p:cNvPr id="1" name=""/>
        <p:cNvGrpSpPr/>
        <p:nvPr/>
      </p:nvGrpSpPr>
      <p:grpSpPr>
        <a:xfrm>
          <a:off x="0" y="0"/>
          <a:ext cx="0" cy="0"/>
          <a:chOff x="0" y="0"/>
          <a:chExt cx="0" cy="0"/>
        </a:xfrm>
      </p:grpSpPr>
      <p:pic>
        <p:nvPicPr>
          <p:cNvPr id="2" name="Image 0" descr="/Users/cgillum1/Desktop/Personal/Kids Day Out/Deck/assets/kdo-mark-full.png">    </p:cNvPr>
          <p:cNvPicPr>
            <a:picLocks noChangeAspect="1"/>
          </p:cNvPicPr>
          <p:nvPr/>
        </p:nvPicPr>
        <p:blipFill>
          <a:blip r:embed="rId1"/>
          <a:stretch>
            <a:fillRect/>
          </a:stretch>
        </p:blipFill>
        <p:spPr>
          <a:xfrm>
            <a:off x="502920" y="347472"/>
            <a:ext cx="868680" cy="740664"/>
          </a:xfrm>
          <a:prstGeom prst="rect">
            <a:avLst/>
          </a:prstGeom>
        </p:spPr>
      </p:pic>
      <p:sp>
        <p:nvSpPr>
          <p:cNvPr id="3" name="Text 0"/>
          <p:cNvSpPr/>
          <p:nvPr/>
        </p:nvSpPr>
        <p:spPr>
          <a:xfrm>
            <a:off x="548640" y="6355080"/>
            <a:ext cx="6400800" cy="274320"/>
          </a:xfrm>
          <a:prstGeom prst="rect">
            <a:avLst/>
          </a:prstGeom>
          <a:noFill/>
          <a:ln/>
        </p:spPr>
        <p:txBody>
          <a:bodyPr wrap="square" lIns="0" tIns="0" rIns="0" bIns="0" rtlCol="0" anchor="ctr"/>
          <a:lstStyle/>
          <a:p>
            <a:pPr indent="0" marL="0">
              <a:buNone/>
            </a:pPr>
            <a:r>
              <a:rPr lang="en-US" sz="1000" b="1" spc="200" kern="0" dirty="0">
                <a:solidFill>
                  <a:srgbClr val="5D6663"/>
                </a:solidFill>
                <a:latin typeface="DM Sans" pitchFamily="34" charset="0"/>
                <a:ea typeface="DM Sans" pitchFamily="34" charset="-122"/>
                <a:cs typeface="DM Sans" pitchFamily="34" charset="-120"/>
              </a:rPr>
              <a:t>KIDS DAY OUT  |  FIRST BAPTIST ALMA</a:t>
            </a:r>
            <a:endParaRPr lang="en-US" sz="1000" dirty="0"/>
          </a:p>
        </p:txBody>
      </p:sp>
      <p:sp>
        <p:nvSpPr>
          <p:cNvPr id="4" name="Text 1"/>
          <p:cNvSpPr/>
          <p:nvPr/>
        </p:nvSpPr>
        <p:spPr>
          <a:xfrm>
            <a:off x="10698480" y="6355080"/>
            <a:ext cx="914400" cy="274320"/>
          </a:xfrm>
          <a:prstGeom prst="rect">
            <a:avLst/>
          </a:prstGeom>
          <a:noFill/>
          <a:ln/>
        </p:spPr>
        <p:txBody>
          <a:bodyPr wrap="square" lIns="0" tIns="0" rIns="0" bIns="0" rtlCol="0" anchor="ctr"/>
          <a:lstStyle/>
          <a:p>
            <a:pPr algn="r" indent="0" marL="0">
              <a:buNone/>
            </a:pPr>
            <a:r>
              <a:rPr lang="en-US" sz="1000" b="1" dirty="0">
                <a:solidFill>
                  <a:srgbClr val="5D6663"/>
                </a:solidFill>
                <a:latin typeface="DM Sans" pitchFamily="34" charset="0"/>
                <a:ea typeface="DM Sans" pitchFamily="34" charset="-122"/>
                <a:cs typeface="DM Sans" pitchFamily="34" charset="-120"/>
              </a:rPr>
              <a:t>13</a:t>
            </a:r>
            <a:endParaRPr lang="en-US" sz="1000" dirty="0"/>
          </a:p>
        </p:txBody>
      </p:sp>
      <p:sp>
        <p:nvSpPr>
          <p:cNvPr id="5" name="Text 2"/>
          <p:cNvSpPr/>
          <p:nvPr/>
        </p:nvSpPr>
        <p:spPr>
          <a:xfrm>
            <a:off x="548640" y="1234440"/>
            <a:ext cx="10972800" cy="320040"/>
          </a:xfrm>
          <a:prstGeom prst="rect">
            <a:avLst/>
          </a:prstGeom>
          <a:noFill/>
          <a:ln/>
        </p:spPr>
        <p:txBody>
          <a:bodyPr wrap="square" lIns="0" tIns="0" rIns="0" bIns="0" rtlCol="0" anchor="ctr"/>
          <a:lstStyle/>
          <a:p>
            <a:pPr indent="0" marL="0">
              <a:buNone/>
            </a:pPr>
            <a:r>
              <a:rPr lang="en-US" sz="1400" b="1" spc="400" kern="0" dirty="0">
                <a:solidFill>
                  <a:srgbClr val="2E8A80"/>
                </a:solidFill>
                <a:latin typeface="DM Sans" pitchFamily="34" charset="0"/>
                <a:ea typeface="DM Sans" pitchFamily="34" charset="-122"/>
                <a:cs typeface="DM Sans" pitchFamily="34" charset="-120"/>
              </a:rPr>
              <a:t>NEXT STEPS</a:t>
            </a:r>
            <a:endParaRPr lang="en-US" sz="1400" dirty="0"/>
          </a:p>
        </p:txBody>
      </p:sp>
      <p:sp>
        <p:nvSpPr>
          <p:cNvPr id="6" name="Text 3"/>
          <p:cNvSpPr/>
          <p:nvPr/>
        </p:nvSpPr>
        <p:spPr>
          <a:xfrm>
            <a:off x="548640" y="1581912"/>
            <a:ext cx="10972800" cy="868680"/>
          </a:xfrm>
          <a:prstGeom prst="rect">
            <a:avLst/>
          </a:prstGeom>
          <a:noFill/>
          <a:ln/>
        </p:spPr>
        <p:txBody>
          <a:bodyPr wrap="square" lIns="0" tIns="0" rIns="0" bIns="0" rtlCol="0" anchor="t"/>
          <a:lstStyle/>
          <a:p>
            <a:pPr indent="0" marL="0">
              <a:buNone/>
            </a:pPr>
            <a:r>
              <a:rPr lang="en-US" sz="4000" dirty="0">
                <a:solidFill>
                  <a:srgbClr val="1E2624"/>
                </a:solidFill>
                <a:latin typeface="DM Serif Text" pitchFamily="34" charset="0"/>
                <a:ea typeface="DM Serif Text" pitchFamily="34" charset="-122"/>
                <a:cs typeface="DM Serif Text" pitchFamily="34" charset="-120"/>
              </a:rPr>
              <a:t>From here to January 7</a:t>
            </a:r>
            <a:endParaRPr lang="en-US" sz="4000" dirty="0"/>
          </a:p>
        </p:txBody>
      </p:sp>
      <p:sp>
        <p:nvSpPr>
          <p:cNvPr id="7" name="Shape 4"/>
          <p:cNvSpPr/>
          <p:nvPr/>
        </p:nvSpPr>
        <p:spPr>
          <a:xfrm>
            <a:off x="822960" y="2788920"/>
            <a:ext cx="10515600" cy="0"/>
          </a:xfrm>
          <a:prstGeom prst="line">
            <a:avLst/>
          </a:prstGeom>
          <a:noFill/>
          <a:ln w="38100">
            <a:solidFill>
              <a:srgbClr val="40ACA1"/>
            </a:solidFill>
            <a:prstDash val="solid"/>
          </a:ln>
        </p:spPr>
      </p:sp>
      <p:sp>
        <p:nvSpPr>
          <p:cNvPr id="8" name="Shape 5"/>
          <p:cNvSpPr/>
          <p:nvPr/>
        </p:nvSpPr>
        <p:spPr>
          <a:xfrm>
            <a:off x="685800" y="2578608"/>
            <a:ext cx="420624" cy="420624"/>
          </a:xfrm>
          <a:prstGeom prst="ellipse">
            <a:avLst/>
          </a:prstGeom>
          <a:solidFill>
            <a:srgbClr val="40ACA1"/>
          </a:solidFill>
          <a:ln w="25400">
            <a:solidFill>
              <a:srgbClr val="FFFFFF"/>
            </a:solidFill>
            <a:prstDash val="solid"/>
          </a:ln>
        </p:spPr>
      </p:sp>
      <p:sp>
        <p:nvSpPr>
          <p:cNvPr id="9" name="Text 6"/>
          <p:cNvSpPr/>
          <p:nvPr/>
        </p:nvSpPr>
        <p:spPr>
          <a:xfrm>
            <a:off x="548640" y="3154680"/>
            <a:ext cx="210312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Nov</a:t>
            </a:r>
            <a:endParaRPr lang="en-US" sz="2200" dirty="0"/>
          </a:p>
        </p:txBody>
      </p:sp>
      <p:sp>
        <p:nvSpPr>
          <p:cNvPr id="10" name="Text 7"/>
          <p:cNvSpPr/>
          <p:nvPr/>
        </p:nvSpPr>
        <p:spPr>
          <a:xfrm>
            <a:off x="548640" y="3611880"/>
            <a:ext cx="2011680" cy="914400"/>
          </a:xfrm>
          <a:prstGeom prst="rect">
            <a:avLst/>
          </a:prstGeom>
          <a:noFill/>
          <a:ln/>
        </p:spPr>
        <p:txBody>
          <a:bodyPr wrap="square" lIns="0" tIns="0" rIns="0" bIns="0" rtlCol="0" anchor="t"/>
          <a:lstStyle/>
          <a:p>
            <a:pPr indent="0" marL="0">
              <a:buNone/>
            </a:pPr>
            <a:r>
              <a:rPr lang="en-US" sz="1500" dirty="0">
                <a:solidFill>
                  <a:srgbClr val="5D6663"/>
                </a:solidFill>
                <a:latin typeface="DM Sans" pitchFamily="34" charset="0"/>
                <a:ea typeface="DM Sans" pitchFamily="34" charset="-122"/>
                <a:cs typeface="DM Sans" pitchFamily="34" charset="-120"/>
              </a:rPr>
              <a:t>State letter, fire marshal, insurance quote</a:t>
            </a:r>
            <a:endParaRPr lang="en-US" sz="1500" dirty="0"/>
          </a:p>
        </p:txBody>
      </p:sp>
      <p:sp>
        <p:nvSpPr>
          <p:cNvPr id="11" name="Shape 8"/>
          <p:cNvSpPr/>
          <p:nvPr/>
        </p:nvSpPr>
        <p:spPr>
          <a:xfrm>
            <a:off x="2953512" y="2578608"/>
            <a:ext cx="420624" cy="420624"/>
          </a:xfrm>
          <a:prstGeom prst="ellipse">
            <a:avLst/>
          </a:prstGeom>
          <a:solidFill>
            <a:srgbClr val="40ACA1"/>
          </a:solidFill>
          <a:ln w="25400">
            <a:solidFill>
              <a:srgbClr val="FFFFFF"/>
            </a:solidFill>
            <a:prstDash val="solid"/>
          </a:ln>
        </p:spPr>
      </p:sp>
      <p:sp>
        <p:nvSpPr>
          <p:cNvPr id="12" name="Text 9"/>
          <p:cNvSpPr/>
          <p:nvPr/>
        </p:nvSpPr>
        <p:spPr>
          <a:xfrm>
            <a:off x="2816352" y="3154680"/>
            <a:ext cx="210312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Nov</a:t>
            </a:r>
            <a:endParaRPr lang="en-US" sz="2200" dirty="0"/>
          </a:p>
        </p:txBody>
      </p:sp>
      <p:sp>
        <p:nvSpPr>
          <p:cNvPr id="13" name="Text 10"/>
          <p:cNvSpPr/>
          <p:nvPr/>
        </p:nvSpPr>
        <p:spPr>
          <a:xfrm>
            <a:off x="2816352" y="3611880"/>
            <a:ext cx="2011680" cy="914400"/>
          </a:xfrm>
          <a:prstGeom prst="rect">
            <a:avLst/>
          </a:prstGeom>
          <a:noFill/>
          <a:ln/>
        </p:spPr>
        <p:txBody>
          <a:bodyPr wrap="square" lIns="0" tIns="0" rIns="0" bIns="0" rtlCol="0" anchor="t"/>
          <a:lstStyle/>
          <a:p>
            <a:pPr indent="0" marL="0">
              <a:buNone/>
            </a:pPr>
            <a:r>
              <a:rPr lang="en-US" sz="1500" dirty="0">
                <a:solidFill>
                  <a:srgbClr val="5D6663"/>
                </a:solidFill>
                <a:latin typeface="DM Sans" pitchFamily="34" charset="0"/>
                <a:ea typeface="DM Sans" pitchFamily="34" charset="-122"/>
                <a:cs typeface="DM Sans" pitchFamily="34" charset="-120"/>
              </a:rPr>
              <a:t>Hiring starts: teachers and subs</a:t>
            </a:r>
            <a:endParaRPr lang="en-US" sz="1500" dirty="0"/>
          </a:p>
        </p:txBody>
      </p:sp>
      <p:sp>
        <p:nvSpPr>
          <p:cNvPr id="14" name="Shape 11"/>
          <p:cNvSpPr/>
          <p:nvPr/>
        </p:nvSpPr>
        <p:spPr>
          <a:xfrm>
            <a:off x="5221224" y="2578608"/>
            <a:ext cx="420624" cy="420624"/>
          </a:xfrm>
          <a:prstGeom prst="ellipse">
            <a:avLst/>
          </a:prstGeom>
          <a:solidFill>
            <a:srgbClr val="40ACA1"/>
          </a:solidFill>
          <a:ln w="25400">
            <a:solidFill>
              <a:srgbClr val="FFFFFF"/>
            </a:solidFill>
            <a:prstDash val="solid"/>
          </a:ln>
        </p:spPr>
      </p:sp>
      <p:sp>
        <p:nvSpPr>
          <p:cNvPr id="15" name="Text 12"/>
          <p:cNvSpPr/>
          <p:nvPr/>
        </p:nvSpPr>
        <p:spPr>
          <a:xfrm>
            <a:off x="5084064" y="3154680"/>
            <a:ext cx="210312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Dec 1</a:t>
            </a:r>
            <a:endParaRPr lang="en-US" sz="2200" dirty="0"/>
          </a:p>
        </p:txBody>
      </p:sp>
      <p:sp>
        <p:nvSpPr>
          <p:cNvPr id="16" name="Text 13"/>
          <p:cNvSpPr/>
          <p:nvPr/>
        </p:nvSpPr>
        <p:spPr>
          <a:xfrm>
            <a:off x="5084064" y="3611880"/>
            <a:ext cx="2011680" cy="914400"/>
          </a:xfrm>
          <a:prstGeom prst="rect">
            <a:avLst/>
          </a:prstGeom>
          <a:noFill/>
          <a:ln/>
        </p:spPr>
        <p:txBody>
          <a:bodyPr wrap="square" lIns="0" tIns="0" rIns="0" bIns="0" rtlCol="0" anchor="t"/>
          <a:lstStyle/>
          <a:p>
            <a:pPr indent="0" marL="0">
              <a:buNone/>
            </a:pPr>
            <a:r>
              <a:rPr lang="en-US" sz="1500" dirty="0">
                <a:solidFill>
                  <a:srgbClr val="5D6663"/>
                </a:solidFill>
                <a:latin typeface="DM Sans" pitchFamily="34" charset="0"/>
                <a:ea typeface="DM Sans" pitchFamily="34" charset="-122"/>
                <a:cs typeface="DM Sans" pitchFamily="34" charset="-120"/>
              </a:rPr>
              <a:t>Teachers and subs hired; registration opens</a:t>
            </a:r>
            <a:endParaRPr lang="en-US" sz="1500" dirty="0"/>
          </a:p>
        </p:txBody>
      </p:sp>
      <p:sp>
        <p:nvSpPr>
          <p:cNvPr id="17" name="Shape 14"/>
          <p:cNvSpPr/>
          <p:nvPr/>
        </p:nvSpPr>
        <p:spPr>
          <a:xfrm>
            <a:off x="7488936" y="2578608"/>
            <a:ext cx="420624" cy="420624"/>
          </a:xfrm>
          <a:prstGeom prst="ellipse">
            <a:avLst/>
          </a:prstGeom>
          <a:solidFill>
            <a:srgbClr val="40ACA1"/>
          </a:solidFill>
          <a:ln w="25400">
            <a:solidFill>
              <a:srgbClr val="FFFFFF"/>
            </a:solidFill>
            <a:prstDash val="solid"/>
          </a:ln>
        </p:spPr>
      </p:sp>
      <p:sp>
        <p:nvSpPr>
          <p:cNvPr id="18" name="Text 15"/>
          <p:cNvSpPr/>
          <p:nvPr/>
        </p:nvSpPr>
        <p:spPr>
          <a:xfrm>
            <a:off x="7351776" y="3154680"/>
            <a:ext cx="210312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Dec</a:t>
            </a:r>
            <a:endParaRPr lang="en-US" sz="2200" dirty="0"/>
          </a:p>
        </p:txBody>
      </p:sp>
      <p:sp>
        <p:nvSpPr>
          <p:cNvPr id="19" name="Text 16"/>
          <p:cNvSpPr/>
          <p:nvPr/>
        </p:nvSpPr>
        <p:spPr>
          <a:xfrm>
            <a:off x="7351776" y="3611880"/>
            <a:ext cx="2011680" cy="914400"/>
          </a:xfrm>
          <a:prstGeom prst="rect">
            <a:avLst/>
          </a:prstGeom>
          <a:noFill/>
          <a:ln/>
        </p:spPr>
        <p:txBody>
          <a:bodyPr wrap="square" lIns="0" tIns="0" rIns="0" bIns="0" rtlCol="0" anchor="t"/>
          <a:lstStyle/>
          <a:p>
            <a:pPr indent="0" marL="0">
              <a:buNone/>
            </a:pPr>
            <a:r>
              <a:rPr lang="en-US" sz="1500" dirty="0">
                <a:solidFill>
                  <a:srgbClr val="5D6663"/>
                </a:solidFill>
                <a:latin typeface="DM Sans" pitchFamily="34" charset="0"/>
                <a:ea typeface="DM Sans" pitchFamily="34" charset="-122"/>
                <a:cs typeface="DM Sans" pitchFamily="34" charset="-120"/>
              </a:rPr>
              <a:t>Training and CPR</a:t>
            </a:r>
            <a:endParaRPr lang="en-US" sz="1500" dirty="0"/>
          </a:p>
        </p:txBody>
      </p:sp>
      <p:sp>
        <p:nvSpPr>
          <p:cNvPr id="20" name="Shape 17"/>
          <p:cNvSpPr/>
          <p:nvPr/>
        </p:nvSpPr>
        <p:spPr>
          <a:xfrm>
            <a:off x="9756648" y="2578608"/>
            <a:ext cx="420624" cy="420624"/>
          </a:xfrm>
          <a:prstGeom prst="ellipse">
            <a:avLst/>
          </a:prstGeom>
          <a:solidFill>
            <a:srgbClr val="D9C187"/>
          </a:solidFill>
          <a:ln w="25400">
            <a:solidFill>
              <a:srgbClr val="FFFFFF"/>
            </a:solidFill>
            <a:prstDash val="solid"/>
          </a:ln>
        </p:spPr>
      </p:sp>
      <p:sp>
        <p:nvSpPr>
          <p:cNvPr id="21" name="Text 18"/>
          <p:cNvSpPr/>
          <p:nvPr/>
        </p:nvSpPr>
        <p:spPr>
          <a:xfrm>
            <a:off x="9619488" y="3154680"/>
            <a:ext cx="2103120" cy="457200"/>
          </a:xfrm>
          <a:prstGeom prst="rect">
            <a:avLst/>
          </a:prstGeom>
          <a:noFill/>
          <a:ln/>
        </p:spPr>
        <p:txBody>
          <a:bodyPr wrap="square" lIns="0" tIns="0" rIns="0" bIns="0" rtlCol="0" anchor="ctr"/>
          <a:lstStyle/>
          <a:p>
            <a:pPr indent="0" marL="0">
              <a:buNone/>
            </a:pPr>
            <a:r>
              <a:rPr lang="en-US" sz="2200" dirty="0">
                <a:solidFill>
                  <a:srgbClr val="1E2624"/>
                </a:solidFill>
                <a:latin typeface="DM Serif Text" pitchFamily="34" charset="0"/>
                <a:ea typeface="DM Serif Text" pitchFamily="34" charset="-122"/>
                <a:cs typeface="DM Serif Text" pitchFamily="34" charset="-120"/>
              </a:rPr>
              <a:t>Jan 7</a:t>
            </a:r>
            <a:endParaRPr lang="en-US" sz="2200" dirty="0"/>
          </a:p>
        </p:txBody>
      </p:sp>
      <p:sp>
        <p:nvSpPr>
          <p:cNvPr id="22" name="Text 19"/>
          <p:cNvSpPr/>
          <p:nvPr/>
        </p:nvSpPr>
        <p:spPr>
          <a:xfrm>
            <a:off x="9619488" y="3611880"/>
            <a:ext cx="2011680" cy="914400"/>
          </a:xfrm>
          <a:prstGeom prst="rect">
            <a:avLst/>
          </a:prstGeom>
          <a:noFill/>
          <a:ln/>
        </p:spPr>
        <p:txBody>
          <a:bodyPr wrap="square" lIns="0" tIns="0" rIns="0" bIns="0" rtlCol="0" anchor="t"/>
          <a:lstStyle/>
          <a:p>
            <a:pPr indent="0" marL="0">
              <a:buNone/>
            </a:pPr>
            <a:r>
              <a:rPr lang="en-US" sz="1500" dirty="0">
                <a:solidFill>
                  <a:srgbClr val="5D6663"/>
                </a:solidFill>
                <a:latin typeface="DM Sans" pitchFamily="34" charset="0"/>
                <a:ea typeface="DM Sans" pitchFamily="34" charset="-122"/>
                <a:cs typeface="DM Sans" pitchFamily="34" charset="-120"/>
              </a:rPr>
              <a:t>First KDO Thursday</a:t>
            </a:r>
            <a:endParaRPr lang="en-US" sz="1500" dirty="0"/>
          </a:p>
        </p:txBody>
      </p:sp>
      <p:sp>
        <p:nvSpPr>
          <p:cNvPr id="23" name="Text 20"/>
          <p:cNvSpPr/>
          <p:nvPr/>
        </p:nvSpPr>
        <p:spPr>
          <a:xfrm>
            <a:off x="548640" y="4800600"/>
            <a:ext cx="3657600" cy="320040"/>
          </a:xfrm>
          <a:prstGeom prst="rect">
            <a:avLst/>
          </a:prstGeom>
          <a:noFill/>
          <a:ln/>
        </p:spPr>
        <p:txBody>
          <a:bodyPr wrap="square" lIns="0" tIns="0" rIns="0" bIns="0" rtlCol="0" anchor="ctr"/>
          <a:lstStyle/>
          <a:p>
            <a:pPr indent="0" marL="0">
              <a:buNone/>
            </a:pPr>
            <a:r>
              <a:rPr lang="en-US" sz="1200" b="1" spc="300" kern="0" dirty="0">
                <a:solidFill>
                  <a:srgbClr val="2E8A80"/>
                </a:solidFill>
                <a:latin typeface="DM Sans" pitchFamily="34" charset="0"/>
                <a:ea typeface="DM Sans" pitchFamily="34" charset="-122"/>
                <a:cs typeface="DM Sans" pitchFamily="34" charset="-120"/>
              </a:rPr>
              <a:t>READY NOW</a:t>
            </a:r>
            <a:endParaRPr lang="en-US" sz="1200" dirty="0"/>
          </a:p>
        </p:txBody>
      </p:sp>
      <p:sp>
        <p:nvSpPr>
          <p:cNvPr id="24" name="Shape 21"/>
          <p:cNvSpPr/>
          <p:nvPr/>
        </p:nvSpPr>
        <p:spPr>
          <a:xfrm>
            <a:off x="548640" y="5212080"/>
            <a:ext cx="2103120" cy="502920"/>
          </a:xfrm>
          <a:prstGeom prst="roundRect">
            <a:avLst>
              <a:gd name="adj" fmla="val 49091"/>
            </a:avLst>
          </a:prstGeom>
          <a:solidFill>
            <a:srgbClr val="FFFFFF"/>
          </a:solidFill>
          <a:ln w="12700">
            <a:solidFill>
              <a:srgbClr val="E8E2D3"/>
            </a:solidFill>
            <a:prstDash val="solid"/>
          </a:ln>
        </p:spPr>
      </p:sp>
      <p:sp>
        <p:nvSpPr>
          <p:cNvPr id="25" name="Text 22"/>
          <p:cNvSpPr/>
          <p:nvPr/>
        </p:nvSpPr>
        <p:spPr>
          <a:xfrm>
            <a:off x="548640" y="5212080"/>
            <a:ext cx="2103120" cy="502920"/>
          </a:xfrm>
          <a:prstGeom prst="rect">
            <a:avLst/>
          </a:prstGeom>
          <a:noFill/>
          <a:ln/>
        </p:spPr>
        <p:txBody>
          <a:bodyPr wrap="square" lIns="0" tIns="0" rIns="0" bIns="0" rtlCol="0" anchor="ctr"/>
          <a:lstStyle/>
          <a:p>
            <a:pPr algn="ctr" indent="0" marL="0">
              <a:buNone/>
            </a:pPr>
            <a:r>
              <a:rPr lang="en-US" sz="1300" b="1" dirty="0">
                <a:solidFill>
                  <a:srgbClr val="1E2624"/>
                </a:solidFill>
                <a:latin typeface="DM Sans" pitchFamily="34" charset="0"/>
                <a:ea typeface="DM Sans" pitchFamily="34" charset="-122"/>
                <a:cs typeface="DM Sans" pitchFamily="34" charset="-120"/>
              </a:rPr>
              <a:t>✓  Parent Handbook</a:t>
            </a:r>
            <a:endParaRPr lang="en-US" sz="1300" dirty="0"/>
          </a:p>
        </p:txBody>
      </p:sp>
      <p:sp>
        <p:nvSpPr>
          <p:cNvPr id="26" name="Shape 23"/>
          <p:cNvSpPr/>
          <p:nvPr/>
        </p:nvSpPr>
        <p:spPr>
          <a:xfrm>
            <a:off x="2816352" y="5212080"/>
            <a:ext cx="2103120" cy="502920"/>
          </a:xfrm>
          <a:prstGeom prst="roundRect">
            <a:avLst>
              <a:gd name="adj" fmla="val 49091"/>
            </a:avLst>
          </a:prstGeom>
          <a:solidFill>
            <a:srgbClr val="FFFFFF"/>
          </a:solidFill>
          <a:ln w="12700">
            <a:solidFill>
              <a:srgbClr val="E8E2D3"/>
            </a:solidFill>
            <a:prstDash val="solid"/>
          </a:ln>
        </p:spPr>
      </p:sp>
      <p:sp>
        <p:nvSpPr>
          <p:cNvPr id="27" name="Text 24"/>
          <p:cNvSpPr/>
          <p:nvPr/>
        </p:nvSpPr>
        <p:spPr>
          <a:xfrm>
            <a:off x="2816352" y="5212080"/>
            <a:ext cx="2103120" cy="502920"/>
          </a:xfrm>
          <a:prstGeom prst="rect">
            <a:avLst/>
          </a:prstGeom>
          <a:noFill/>
          <a:ln/>
        </p:spPr>
        <p:txBody>
          <a:bodyPr wrap="square" lIns="0" tIns="0" rIns="0" bIns="0" rtlCol="0" anchor="ctr"/>
          <a:lstStyle/>
          <a:p>
            <a:pPr algn="ctr" indent="0" marL="0">
              <a:buNone/>
            </a:pPr>
            <a:r>
              <a:rPr lang="en-US" sz="1300" b="1" dirty="0">
                <a:solidFill>
                  <a:srgbClr val="1E2624"/>
                </a:solidFill>
                <a:latin typeface="DM Sans" pitchFamily="34" charset="0"/>
                <a:ea typeface="DM Sans" pitchFamily="34" charset="-122"/>
                <a:cs typeface="DM Sans" pitchFamily="34" charset="-120"/>
              </a:rPr>
              <a:t>✓  Staff Policies Manual</a:t>
            </a:r>
            <a:endParaRPr lang="en-US" sz="1300" dirty="0"/>
          </a:p>
        </p:txBody>
      </p:sp>
      <p:sp>
        <p:nvSpPr>
          <p:cNvPr id="28" name="Shape 25"/>
          <p:cNvSpPr/>
          <p:nvPr/>
        </p:nvSpPr>
        <p:spPr>
          <a:xfrm>
            <a:off x="5084064" y="5212080"/>
            <a:ext cx="2103120" cy="502920"/>
          </a:xfrm>
          <a:prstGeom prst="roundRect">
            <a:avLst>
              <a:gd name="adj" fmla="val 49091"/>
            </a:avLst>
          </a:prstGeom>
          <a:solidFill>
            <a:srgbClr val="FFFFFF"/>
          </a:solidFill>
          <a:ln w="12700">
            <a:solidFill>
              <a:srgbClr val="E8E2D3"/>
            </a:solidFill>
            <a:prstDash val="solid"/>
          </a:ln>
        </p:spPr>
      </p:sp>
      <p:sp>
        <p:nvSpPr>
          <p:cNvPr id="29" name="Text 26"/>
          <p:cNvSpPr/>
          <p:nvPr/>
        </p:nvSpPr>
        <p:spPr>
          <a:xfrm>
            <a:off x="5084064" y="5212080"/>
            <a:ext cx="2103120" cy="502920"/>
          </a:xfrm>
          <a:prstGeom prst="rect">
            <a:avLst/>
          </a:prstGeom>
          <a:noFill/>
          <a:ln/>
        </p:spPr>
        <p:txBody>
          <a:bodyPr wrap="square" lIns="0" tIns="0" rIns="0" bIns="0" rtlCol="0" anchor="ctr"/>
          <a:lstStyle/>
          <a:p>
            <a:pPr algn="ctr" indent="0" marL="0">
              <a:buNone/>
            </a:pPr>
            <a:r>
              <a:rPr lang="en-US" sz="1300" b="1" dirty="0">
                <a:solidFill>
                  <a:srgbClr val="1E2624"/>
                </a:solidFill>
                <a:latin typeface="DM Sans" pitchFamily="34" charset="0"/>
                <a:ea typeface="DM Sans" pitchFamily="34" charset="-122"/>
                <a:cs typeface="DM Sans" pitchFamily="34" charset="-120"/>
              </a:rPr>
              <a:t>✓  Registration site</a:t>
            </a:r>
            <a:endParaRPr lang="en-US" sz="1300" dirty="0"/>
          </a:p>
        </p:txBody>
      </p:sp>
      <p:sp>
        <p:nvSpPr>
          <p:cNvPr id="30" name="Shape 27"/>
          <p:cNvSpPr/>
          <p:nvPr/>
        </p:nvSpPr>
        <p:spPr>
          <a:xfrm>
            <a:off x="7351776" y="5212080"/>
            <a:ext cx="2103120" cy="502920"/>
          </a:xfrm>
          <a:prstGeom prst="roundRect">
            <a:avLst>
              <a:gd name="adj" fmla="val 49091"/>
            </a:avLst>
          </a:prstGeom>
          <a:solidFill>
            <a:srgbClr val="FFFFFF"/>
          </a:solidFill>
          <a:ln w="12700">
            <a:solidFill>
              <a:srgbClr val="E8E2D3"/>
            </a:solidFill>
            <a:prstDash val="solid"/>
          </a:ln>
        </p:spPr>
      </p:sp>
      <p:sp>
        <p:nvSpPr>
          <p:cNvPr id="31" name="Text 28"/>
          <p:cNvSpPr/>
          <p:nvPr/>
        </p:nvSpPr>
        <p:spPr>
          <a:xfrm>
            <a:off x="7351776" y="5212080"/>
            <a:ext cx="2103120" cy="502920"/>
          </a:xfrm>
          <a:prstGeom prst="rect">
            <a:avLst/>
          </a:prstGeom>
          <a:noFill/>
          <a:ln/>
        </p:spPr>
        <p:txBody>
          <a:bodyPr wrap="square" lIns="0" tIns="0" rIns="0" bIns="0" rtlCol="0" anchor="ctr"/>
          <a:lstStyle/>
          <a:p>
            <a:pPr algn="ctr" indent="0" marL="0">
              <a:buNone/>
            </a:pPr>
            <a:r>
              <a:rPr lang="en-US" sz="1300" b="1" dirty="0">
                <a:solidFill>
                  <a:srgbClr val="1E2624"/>
                </a:solidFill>
                <a:latin typeface="DM Sans" pitchFamily="34" charset="0"/>
                <a:ea typeface="DM Sans" pitchFamily="34" charset="-122"/>
                <a:cs typeface="DM Sans" pitchFamily="34" charset="-120"/>
              </a:rPr>
              <a:t>✓  Budget</a:t>
            </a:r>
            <a:endParaRPr lang="en-US" sz="1300" dirty="0"/>
          </a:p>
        </p:txBody>
      </p:sp>
      <p:sp>
        <p:nvSpPr>
          <p:cNvPr id="32" name="Shape 29"/>
          <p:cNvSpPr/>
          <p:nvPr/>
        </p:nvSpPr>
        <p:spPr>
          <a:xfrm>
            <a:off x="9619488" y="5212080"/>
            <a:ext cx="2103120" cy="502920"/>
          </a:xfrm>
          <a:prstGeom prst="roundRect">
            <a:avLst>
              <a:gd name="adj" fmla="val 49091"/>
            </a:avLst>
          </a:prstGeom>
          <a:solidFill>
            <a:srgbClr val="FFFFFF"/>
          </a:solidFill>
          <a:ln w="12700">
            <a:solidFill>
              <a:srgbClr val="E8E2D3"/>
            </a:solidFill>
            <a:prstDash val="solid"/>
          </a:ln>
        </p:spPr>
      </p:sp>
      <p:sp>
        <p:nvSpPr>
          <p:cNvPr id="33" name="Text 30"/>
          <p:cNvSpPr/>
          <p:nvPr/>
        </p:nvSpPr>
        <p:spPr>
          <a:xfrm>
            <a:off x="9619488" y="5212080"/>
            <a:ext cx="2103120" cy="502920"/>
          </a:xfrm>
          <a:prstGeom prst="rect">
            <a:avLst/>
          </a:prstGeom>
          <a:noFill/>
          <a:ln/>
        </p:spPr>
        <p:txBody>
          <a:bodyPr wrap="square" lIns="0" tIns="0" rIns="0" bIns="0" rtlCol="0" anchor="ctr"/>
          <a:lstStyle/>
          <a:p>
            <a:pPr algn="ctr" indent="0" marL="0">
              <a:buNone/>
            </a:pPr>
            <a:r>
              <a:rPr lang="en-US" sz="1300" b="1" dirty="0">
                <a:solidFill>
                  <a:srgbClr val="1E2624"/>
                </a:solidFill>
                <a:latin typeface="DM Sans" pitchFamily="34" charset="0"/>
                <a:ea typeface="DM Sans" pitchFamily="34" charset="-122"/>
                <a:cs typeface="DM Sans" pitchFamily="34" charset="-120"/>
              </a:rPr>
              <a:t>✓  Logo</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624"/>
        </a:solidFill>
      </p:bgPr>
    </p:bg>
    <p:spTree>
      <p:nvGrpSpPr>
        <p:cNvPr id="1" name=""/>
        <p:cNvGrpSpPr/>
        <p:nvPr/>
      </p:nvGrpSpPr>
      <p:grpSpPr>
        <a:xfrm>
          <a:off x="0" y="0"/>
          <a:ext cx="0" cy="0"/>
          <a:chOff x="0" y="0"/>
          <a:chExt cx="0" cy="0"/>
        </a:xfrm>
      </p:grpSpPr>
      <p:pic>
        <p:nvPicPr>
          <p:cNvPr id="2" name="Image 0" descr="/Users/cgillum1/Desktop/Personal/Kids Day Out/Deck/assets/kdo-sunrise-white.png">    </p:cNvPr>
          <p:cNvPicPr>
            <a:picLocks noChangeAspect="1"/>
          </p:cNvPicPr>
          <p:nvPr/>
        </p:nvPicPr>
        <p:blipFill>
          <a:blip r:embed="rId1"/>
          <a:stretch>
            <a:fillRect/>
          </a:stretch>
        </p:blipFill>
        <p:spPr>
          <a:xfrm>
            <a:off x="731520" y="548640"/>
            <a:ext cx="2011680" cy="1133856"/>
          </a:xfrm>
          <a:prstGeom prst="rect">
            <a:avLst/>
          </a:prstGeom>
        </p:spPr>
      </p:pic>
      <p:sp>
        <p:nvSpPr>
          <p:cNvPr id="3" name="Text 0"/>
          <p:cNvSpPr/>
          <p:nvPr/>
        </p:nvSpPr>
        <p:spPr>
          <a:xfrm>
            <a:off x="731520" y="2011680"/>
            <a:ext cx="6400800" cy="365760"/>
          </a:xfrm>
          <a:prstGeom prst="rect">
            <a:avLst/>
          </a:prstGeom>
          <a:noFill/>
          <a:ln/>
        </p:spPr>
        <p:txBody>
          <a:bodyPr wrap="square" lIns="0" tIns="0" rIns="0" bIns="0" rtlCol="0" anchor="ctr"/>
          <a:lstStyle/>
          <a:p>
            <a:pPr indent="0" marL="0">
              <a:buNone/>
            </a:pPr>
            <a:r>
              <a:rPr lang="en-US" sz="1400" b="1" spc="400" kern="0" dirty="0">
                <a:solidFill>
                  <a:srgbClr val="8FD6CE"/>
                </a:solidFill>
                <a:latin typeface="DM Sans" pitchFamily="34" charset="0"/>
                <a:ea typeface="DM Sans" pitchFamily="34" charset="-122"/>
                <a:cs typeface="DM Sans" pitchFamily="34" charset="-120"/>
              </a:rPr>
              <a:t>TRY IT NOW</a:t>
            </a:r>
            <a:endParaRPr lang="en-US" sz="1400" dirty="0"/>
          </a:p>
        </p:txBody>
      </p:sp>
      <p:sp>
        <p:nvSpPr>
          <p:cNvPr id="4" name="Text 1"/>
          <p:cNvSpPr/>
          <p:nvPr/>
        </p:nvSpPr>
        <p:spPr>
          <a:xfrm>
            <a:off x="731520" y="2377440"/>
            <a:ext cx="7132320" cy="1463040"/>
          </a:xfrm>
          <a:prstGeom prst="rect">
            <a:avLst/>
          </a:prstGeom>
          <a:noFill/>
          <a:ln/>
        </p:spPr>
        <p:txBody>
          <a:bodyPr wrap="square" lIns="0" tIns="0" rIns="0" bIns="0" rtlCol="0" anchor="t"/>
          <a:lstStyle/>
          <a:p>
            <a:pPr indent="0" marL="0">
              <a:buNone/>
            </a:pPr>
            <a:r>
              <a:rPr lang="en-US" sz="3800" dirty="0">
                <a:solidFill>
                  <a:srgbClr val="FFFFFF"/>
                </a:solidFill>
                <a:latin typeface="DM Serif Text" pitchFamily="34" charset="0"/>
                <a:ea typeface="DM Serif Text" pitchFamily="34" charset="-122"/>
                <a:cs typeface="DM Serif Text" pitchFamily="34" charset="-120"/>
              </a:rPr>
              <a:t>Scan, register, and watch it arrive</a:t>
            </a:r>
            <a:endParaRPr lang="en-US" sz="3800" dirty="0"/>
          </a:p>
        </p:txBody>
      </p:sp>
      <p:sp>
        <p:nvSpPr>
          <p:cNvPr id="5" name="Text 2"/>
          <p:cNvSpPr/>
          <p:nvPr/>
        </p:nvSpPr>
        <p:spPr>
          <a:xfrm>
            <a:off x="731520" y="3840480"/>
            <a:ext cx="6766560" cy="914400"/>
          </a:xfrm>
          <a:prstGeom prst="rect">
            <a:avLst/>
          </a:prstGeom>
          <a:noFill/>
          <a:ln/>
        </p:spPr>
        <p:txBody>
          <a:bodyPr wrap="square" lIns="0" tIns="0" rIns="0" bIns="0" rtlCol="0" anchor="t"/>
          <a:lstStyle/>
          <a:p>
            <a:pPr indent="0" marL="0">
              <a:buNone/>
            </a:pPr>
            <a:r>
              <a:rPr lang="en-US" sz="1800" dirty="0">
                <a:solidFill>
                  <a:srgbClr val="E8E2D3"/>
                </a:solidFill>
                <a:latin typeface="DM Sans" pitchFamily="34" charset="0"/>
                <a:ea typeface="DM Sans" pitchFamily="34" charset="-122"/>
                <a:cs typeface="DM Sans" pitchFamily="34" charset="-120"/>
              </a:rPr>
              <a:t>Scan the code with your phone and send a test registration. I'll pull up our sign-up sheet so you can see it come in.</a:t>
            </a:r>
            <a:endParaRPr lang="en-US" sz="1800" dirty="0"/>
          </a:p>
        </p:txBody>
      </p:sp>
      <p:sp>
        <p:nvSpPr>
          <p:cNvPr id="6" name="Text 3"/>
          <p:cNvSpPr/>
          <p:nvPr/>
        </p:nvSpPr>
        <p:spPr>
          <a:xfrm>
            <a:off x="731520" y="4892040"/>
            <a:ext cx="5486400" cy="685800"/>
          </a:xfrm>
          <a:prstGeom prst="rect">
            <a:avLst/>
          </a:prstGeom>
          <a:noFill/>
          <a:ln/>
        </p:spPr>
        <p:txBody>
          <a:bodyPr wrap="square" lIns="0" tIns="0" rIns="0" bIns="0" rtlCol="0" anchor="ctr"/>
          <a:lstStyle/>
          <a:p>
            <a:pPr indent="0" marL="0">
              <a:buNone/>
            </a:pPr>
            <a:r>
              <a:rPr lang="en-US" sz="3200" dirty="0">
                <a:solidFill>
                  <a:srgbClr val="E4D0A1"/>
                </a:solidFill>
                <a:latin typeface="DM Serif Text" pitchFamily="34" charset="0"/>
                <a:ea typeface="DM Serif Text" pitchFamily="34" charset="-122"/>
                <a:cs typeface="DM Serif Text" pitchFamily="34" charset="-120"/>
              </a:rPr>
              <a:t>Thank you</a:t>
            </a:r>
            <a:endParaRPr lang="en-US" sz="3200" dirty="0"/>
          </a:p>
        </p:txBody>
      </p:sp>
      <p:sp>
        <p:nvSpPr>
          <p:cNvPr id="7" name="Text 4"/>
          <p:cNvSpPr/>
          <p:nvPr/>
        </p:nvSpPr>
        <p:spPr>
          <a:xfrm>
            <a:off x="731520" y="5989320"/>
            <a:ext cx="10881360" cy="457200"/>
          </a:xfrm>
          <a:prstGeom prst="rect">
            <a:avLst/>
          </a:prstGeom>
          <a:noFill/>
          <a:ln/>
        </p:spPr>
        <p:txBody>
          <a:bodyPr wrap="square" lIns="0" tIns="0" rIns="0" bIns="0" rtlCol="0" anchor="t"/>
          <a:lstStyle/>
          <a:p>
            <a:pPr indent="0" marL="0">
              <a:buNone/>
            </a:pPr>
            <a:r>
              <a:rPr lang="en-US" sz="1100" dirty="0">
                <a:solidFill>
                  <a:srgbClr val="9FB0AC"/>
                </a:solidFill>
                <a:latin typeface="DM Sans" pitchFamily="34" charset="0"/>
                <a:ea typeface="DM Sans" pitchFamily="34" charset="-122"/>
                <a:cs typeface="DM Sans" pitchFamily="34" charset="-120"/>
              </a:rPr>
              <a:t>References: Lisa Hill, previous KDO Director, 479-236-8555  |  Ellie Sherburne, previous KDO Assistant Director, (870) 405-7338  |  Kristin Lehner, previous Director at OGC (Arisa Health), 913-426-0525</a:t>
            </a:r>
            <a:endParaRPr lang="en-US" sz="1100" dirty="0"/>
          </a:p>
        </p:txBody>
      </p:sp>
      <p:sp>
        <p:nvSpPr>
          <p:cNvPr id="8" name="Shape 5"/>
          <p:cNvSpPr/>
          <p:nvPr/>
        </p:nvSpPr>
        <p:spPr>
          <a:xfrm>
            <a:off x="8366760" y="1280160"/>
            <a:ext cx="3200400" cy="4023360"/>
          </a:xfrm>
          <a:prstGeom prst="roundRect">
            <a:avLst>
              <a:gd name="adj" fmla="val 5714"/>
            </a:avLst>
          </a:prstGeom>
          <a:solidFill>
            <a:srgbClr val="FFFFFF"/>
          </a:solidFill>
          <a:ln w="12700">
            <a:solidFill>
              <a:srgbClr val="FFFFFF"/>
            </a:solidFill>
            <a:prstDash val="solid"/>
          </a:ln>
        </p:spPr>
      </p:sp>
      <p:pic>
        <p:nvPicPr>
          <p:cNvPr id="9" name="Image 1" descr="/Users/cgillum1/Desktop/Personal/Kids Day Out/Deck/assets/qr.png">    </p:cNvPr>
          <p:cNvPicPr>
            <a:picLocks noChangeAspect="1"/>
          </p:cNvPicPr>
          <p:nvPr/>
        </p:nvPicPr>
        <p:blipFill>
          <a:blip r:embed="rId2"/>
          <a:stretch>
            <a:fillRect/>
          </a:stretch>
        </p:blipFill>
        <p:spPr>
          <a:xfrm>
            <a:off x="8641080" y="1554480"/>
            <a:ext cx="2651760" cy="2651760"/>
          </a:xfrm>
          <a:prstGeom prst="rect">
            <a:avLst/>
          </a:prstGeom>
        </p:spPr>
      </p:pic>
      <p:sp>
        <p:nvSpPr>
          <p:cNvPr id="10" name="Text 6"/>
          <p:cNvSpPr/>
          <p:nvPr/>
        </p:nvSpPr>
        <p:spPr>
          <a:xfrm>
            <a:off x="8366760" y="4434840"/>
            <a:ext cx="3200400" cy="411480"/>
          </a:xfrm>
          <a:prstGeom prst="rect">
            <a:avLst/>
          </a:prstGeom>
          <a:noFill/>
          <a:ln/>
        </p:spPr>
        <p:txBody>
          <a:bodyPr wrap="square" lIns="0" tIns="0" rIns="0" bIns="0" rtlCol="0" anchor="ctr"/>
          <a:lstStyle/>
          <a:p>
            <a:pPr algn="ctr" indent="0" marL="0">
              <a:buNone/>
            </a:pPr>
            <a:r>
              <a:rPr lang="en-US" sz="1400" b="1" dirty="0">
                <a:solidFill>
                  <a:srgbClr val="2E8A80"/>
                </a:solidFill>
                <a:latin typeface="DM Sans" pitchFamily="34" charset="0"/>
                <a:ea typeface="DM Sans" pitchFamily="34" charset="-122"/>
                <a:cs typeface="DM Sans" pitchFamily="34" charset="-120"/>
              </a:rPr>
              <a:t>firstalma-kdo.vercel.app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Kids Day Out: a proposal for First Baptist Church Alma</dc:title>
  <dc:subject>PptxGenJS Presentation</dc:subject>
  <dc:creator>PptxGenJS</dc:creator>
  <cp:lastModifiedBy>PptxGenJS</cp:lastModifiedBy>
  <cp:revision>1</cp:revision>
  <dcterms:created xsi:type="dcterms:W3CDTF">2026-10-27T15:57:15Z</dcterms:created>
  <dcterms:modified xsi:type="dcterms:W3CDTF">2026-10-27T15:57:15Z</dcterms:modified>
</cp:coreProperties>
</file>